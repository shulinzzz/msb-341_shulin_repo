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8" r:id="rId4"/>
    <p:sldId id="259"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B0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0F9786-9728-1E45-A7C3-BDD1E4D42614}" v="234" dt="2026-10-08T23:46:07.099"/>
    <p1510:client id="{96B6F0F2-282F-A752-0F92-50C6D0462720}" v="471" dt="2026-10-08T23:44:05.7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12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China, even dinner gets complicated if you don’t speak Chinese or know the apps. When I hosted BYU friends in Nanchang, they needed help with menus, QR payments and rides. Without a local, </a:t>
            </a:r>
            <a:r>
              <a:rPr lang="en-US"/>
              <a:t>unlike other countries in Asia, like Japan or Taiwan, there isn’t enough travel infrastructure because of the GFW. </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More visitors are arriving. China recorded 35.17 million visits by foreign nationals in 2025. In the first half of 2026, foreign entries rose 20.4% year over year; 77.7% were visa-free. Our customer hypothesis is independent</a:t>
            </a:r>
            <a:r>
              <a:rPr lang="en-US"/>
              <a:t>, </a:t>
            </a:r>
            <a:r>
              <a:t>first-time </a:t>
            </a:r>
            <a:r>
              <a:rPr lang="en-US"/>
              <a:t>foreign </a:t>
            </a:r>
            <a:r>
              <a:t>travelers who want local help.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err="1"/>
              <a:t>PengPal</a:t>
            </a:r>
            <a:r>
              <a:t> matches travelers with English-speaking local hosts. They meet by video before the trip; in China, hosts help with transit, payments and ordering, then share local places. We plan to verify hosts, take payment in U.S. dollars up front and collect reviews. Travelers get help and company; hosts earn and practice English.</a:t>
            </a:r>
          </a:p>
          <a:p>
            <a:endParaRPr/>
          </a:p>
          <a:p>
            <a:r>
              <a:t>The app is an editable concept mockup. Profile names and listings are samples, not confirmed hosts. Chongqing is shown to match the proposed pilot market.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We’ll hand-match trips in Chongqing and Chengdu, recruiting through student and returnee networks. We’ll test booking and price fit, then track satisfaction, referrals and host return. We plan to earn a fee on each booking. If demand repeats, we’ll add Chinese cities and build software around what works. PengPal: travel China like you have a friend there.</a:t>
            </a:r>
          </a:p>
          <a:p>
            <a:endParaRPr/>
          </a:p>
          <a:p>
            <a:r>
              <a:t>The per-booking service fee is a proposed model to validate, not an established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A2636-F5F3-6C69-8A8C-1028ACE846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DB1343-3664-D47D-13C9-62B8D05CC7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207585-5BFE-7258-EFED-D66DDCED51FC}"/>
              </a:ext>
            </a:extLst>
          </p:cNvPr>
          <p:cNvSpPr>
            <a:spLocks noGrp="1"/>
          </p:cNvSpPr>
          <p:nvPr>
            <p:ph type="body" idx="1"/>
          </p:nvPr>
        </p:nvSpPr>
        <p:spPr/>
        <p:txBody>
          <a:bodyPr/>
          <a:lstStyle/>
          <a:p>
            <a:r>
              <a:t>In China, even dinner gets complicated if you don’t speak Chinese or know the apps. When I hosted BYU friends in Nanchang, they needed help with menus, QR payments and rides. Without a local, travelers pay for a guide, join a rigid tour or figure things out alone—and miss local places they came to see.</a:t>
            </a:r>
          </a:p>
          <a:p>
            <a:endParaRPr/>
          </a:p>
          <a:p>
            <a:r>
              <a:t>The photograph is generated for illustration; it depicts a guided Chongqing visit but is not a real </a:t>
            </a:r>
            <a:r>
              <a:rPr lang="en-US" err="1"/>
              <a:t>PengPal</a:t>
            </a:r>
            <a:r>
              <a:t> trip.</a:t>
            </a:r>
          </a:p>
        </p:txBody>
      </p:sp>
      <p:sp>
        <p:nvSpPr>
          <p:cNvPr id="4" name="Slide Number Placeholder 3">
            <a:extLst>
              <a:ext uri="{FF2B5EF4-FFF2-40B4-BE49-F238E27FC236}">
                <a16:creationId xmlns:a16="http://schemas.microsoft.com/office/drawing/2014/main" id="{75984BD8-25D7-8A80-E238-F64B69AC7AE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70194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Pr>
        <a:solidFill>
          <a:srgbClr val="F7F5F0"/>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1747DFB-B839-49FD-86CB-9216C387423E}"/>
              </a:ext>
            </a:extLst>
          </p:cNvPr>
          <p:cNvSpPr>
            <a:spLocks noGrp="1"/>
          </p:cNvSpPr>
          <p:nvPr/>
        </p:nvSpPr>
        <p:spPr>
          <a:xfrm>
            <a:off x="0" y="-6468"/>
            <a:ext cx="6019800" cy="6858000"/>
          </a:xfrm>
          <a:prstGeom prst="rect">
            <a:avLst/>
          </a:prstGeom>
          <a:solidFill>
            <a:srgbClr val="112947"/>
          </a:solidFill>
          <a:ln w="0">
            <a:noFill/>
          </a:ln>
        </p:spPr>
        <p:txBody>
          <a:bodyPr/>
          <a:lstStyle/>
          <a:p>
            <a:endParaRPr lang="en-US"/>
          </a:p>
        </p:txBody>
      </p:sp>
      <p:pic>
        <p:nvPicPr>
          <p:cNvPr id="15" name="Picture 14"/>
          <p:cNvPicPr>
            <a:picLocks noChangeAspect="1"/>
          </p:cNvPicPr>
          <p:nvPr/>
        </p:nvPicPr>
        <p:blipFill>
          <a:blip r:embed="rId3"/>
          <a:srcRect t="5540" b="5540"/>
          <a:stretch>
            <a:fillRect/>
          </a:stretch>
        </p:blipFill>
        <p:spPr>
          <a:xfrm>
            <a:off x="5725005" y="-155740"/>
            <a:ext cx="6699013" cy="7055555"/>
          </a:xfrm>
          <a:prstGeom prst="rect">
            <a:avLst/>
          </a:prstGeom>
          <a:ln>
            <a:noFill/>
          </a:ln>
          <a:effectLst>
            <a:softEdge rad="112500"/>
          </a:effectLst>
        </p:spPr>
      </p:pic>
      <p:sp>
        <p:nvSpPr>
          <p:cNvPr id="3" name="Rectangle 2">
            <a:extLst>
              <a:ext uri="{FF2B5EF4-FFF2-40B4-BE49-F238E27FC236}">
                <a16:creationId xmlns:a16="http://schemas.microsoft.com/office/drawing/2014/main" id="{20D29570-3C26-4E8A-8E4A-BC50BF0A0A14}"/>
              </a:ext>
            </a:extLst>
          </p:cNvPr>
          <p:cNvSpPr>
            <a:spLocks noGrp="1"/>
          </p:cNvSpPr>
          <p:nvPr/>
        </p:nvSpPr>
        <p:spPr>
          <a:xfrm>
            <a:off x="609600" y="609600"/>
            <a:ext cx="342900" cy="47625"/>
          </a:xfrm>
          <a:prstGeom prst="rect">
            <a:avLst/>
          </a:prstGeom>
          <a:solidFill>
            <a:srgbClr val="E84632"/>
          </a:solidFill>
          <a:ln w="0">
            <a:noFill/>
          </a:ln>
        </p:spPr>
        <p:txBody>
          <a:bodyPr/>
          <a:lstStyle/>
          <a:p>
            <a:endParaRPr lang="en-US"/>
          </a:p>
        </p:txBody>
      </p:sp>
      <p:sp>
        <p:nvSpPr>
          <p:cNvPr id="4" name="Rectangle 3">
            <a:extLst>
              <a:ext uri="{FF2B5EF4-FFF2-40B4-BE49-F238E27FC236}">
                <a16:creationId xmlns:a16="http://schemas.microsoft.com/office/drawing/2014/main" id="{B5D1DFF5-3A52-4D76-AFF5-CEB291DB3146}"/>
              </a:ext>
            </a:extLst>
          </p:cNvPr>
          <p:cNvSpPr>
            <a:spLocks noGrp="1"/>
          </p:cNvSpPr>
          <p:nvPr/>
        </p:nvSpPr>
        <p:spPr>
          <a:xfrm>
            <a:off x="609600" y="611717"/>
            <a:ext cx="5415138" cy="993186"/>
          </a:xfrm>
          <a:prstGeom prst="rect">
            <a:avLst/>
          </a:prstGeom>
          <a:noFill/>
          <a:ln w="0">
            <a:noFill/>
          </a:ln>
        </p:spPr>
        <p:txBody>
          <a:bodyPr wrap="square" lIns="0" tIns="0" rIns="0" bIns="0" anchor="ctr">
            <a:noAutofit/>
          </a:bodyPr>
          <a:lstStyle/>
          <a:p>
            <a:pPr algn="l">
              <a:lnSpc>
                <a:spcPct val="100000"/>
              </a:lnSpc>
              <a:buNone/>
              <a:defRPr sz="2325" b="1">
                <a:solidFill>
                  <a:srgbClr val="FFFFFF"/>
                </a:solidFill>
                <a:latin typeface="Helvetica Neue"/>
                <a:ea typeface="Helvetica Neue"/>
                <a:cs typeface="Helvetica Neue"/>
              </a:defRPr>
            </a:pPr>
            <a:r>
              <a:rPr sz="6600" b="1" err="1">
                <a:solidFill>
                  <a:srgbClr val="FF8B0F"/>
                </a:solidFill>
                <a:latin typeface="Freestyle Script"/>
                <a:ea typeface="Helvetica Neue"/>
                <a:cs typeface="Helvetica Neue"/>
              </a:rPr>
              <a:t>PengPal</a:t>
            </a:r>
            <a:endParaRPr lang="en-US" sz="6600" b="1">
              <a:solidFill>
                <a:srgbClr val="FF8B0F"/>
              </a:solidFill>
              <a:latin typeface="Freestyle Script"/>
              <a:ea typeface="Helvetica Neue"/>
              <a:cs typeface="Helvetica Neue"/>
            </a:endParaRPr>
          </a:p>
        </p:txBody>
      </p:sp>
      <p:sp>
        <p:nvSpPr>
          <p:cNvPr id="5" name="Rectangle 4">
            <a:extLst>
              <a:ext uri="{FF2B5EF4-FFF2-40B4-BE49-F238E27FC236}">
                <a16:creationId xmlns:a16="http://schemas.microsoft.com/office/drawing/2014/main" id="{93D4F2A1-16F6-4C58-96C9-E996B091E9C9}"/>
              </a:ext>
            </a:extLst>
          </p:cNvPr>
          <p:cNvSpPr>
            <a:spLocks noGrp="1"/>
          </p:cNvSpPr>
          <p:nvPr/>
        </p:nvSpPr>
        <p:spPr>
          <a:xfrm>
            <a:off x="402637" y="2016008"/>
            <a:ext cx="5310011" cy="1408288"/>
          </a:xfrm>
          <a:prstGeom prst="rect">
            <a:avLst/>
          </a:prstGeom>
          <a:noFill/>
          <a:ln w="0">
            <a:noFill/>
          </a:ln>
        </p:spPr>
        <p:txBody>
          <a:bodyPr wrap="square" lIns="0" tIns="0" rIns="0" bIns="0" anchor="ctr">
            <a:noAutofit/>
          </a:bodyPr>
          <a:lstStyle/>
          <a:p>
            <a:pPr>
              <a:defRPr sz="3000" b="1">
                <a:solidFill>
                  <a:srgbClr val="FFFFFF"/>
                </a:solidFill>
                <a:latin typeface="Helvetica Neue"/>
                <a:ea typeface="Helvetica Neue"/>
                <a:cs typeface="Helvetica Neue"/>
              </a:defRPr>
            </a:pPr>
            <a:r>
              <a:rPr lang="en-US" sz="2000" b="1">
                <a:solidFill>
                  <a:srgbClr val="FFFFFF"/>
                </a:solidFill>
                <a:latin typeface="Helvetica Neue"/>
                <a:ea typeface="Helvetica Neue"/>
                <a:cs typeface="Helvetica Neue"/>
              </a:rPr>
              <a:t>The app</a:t>
            </a:r>
            <a:r>
              <a:rPr sz="2000" b="1">
                <a:solidFill>
                  <a:srgbClr val="FFFFFF"/>
                </a:solidFill>
                <a:latin typeface="Helvetica Neue"/>
                <a:ea typeface="Helvetica Neue"/>
                <a:cs typeface="Helvetica Neue"/>
              </a:rPr>
              <a:t> </a:t>
            </a:r>
            <a:r>
              <a:rPr lang="en-US" sz="2000" b="1">
                <a:solidFill>
                  <a:srgbClr val="FFFFFF"/>
                </a:solidFill>
                <a:latin typeface="Helvetica Neue"/>
                <a:ea typeface="Helvetica Neue"/>
                <a:cs typeface="Helvetica Neue"/>
              </a:rPr>
              <a:t>makes</a:t>
            </a:r>
            <a:r>
              <a:rPr sz="2000" b="1">
                <a:solidFill>
                  <a:srgbClr val="FFFFFF"/>
                </a:solidFill>
                <a:latin typeface="Helvetica Neue"/>
                <a:ea typeface="Helvetica Neue"/>
                <a:cs typeface="Helvetica Neue"/>
              </a:rPr>
              <a:t> </a:t>
            </a:r>
            <a:r>
              <a:rPr lang="en-US" sz="2000" b="1">
                <a:solidFill>
                  <a:srgbClr val="FFFFFF"/>
                </a:solidFill>
                <a:latin typeface="Helvetica Neue"/>
                <a:ea typeface="Helvetica Neue"/>
                <a:cs typeface="Helvetica Neue"/>
              </a:rPr>
              <a:t>travel </a:t>
            </a:r>
            <a:r>
              <a:rPr sz="2000" b="1">
                <a:solidFill>
                  <a:srgbClr val="FFFFFF"/>
                </a:solidFill>
                <a:latin typeface="Helvetica Neue"/>
                <a:ea typeface="Helvetica Neue"/>
                <a:cs typeface="Helvetica Neue"/>
              </a:rPr>
              <a:t>China easy</a:t>
            </a:r>
            <a:r>
              <a:rPr lang="en-US" sz="2000" b="1">
                <a:solidFill>
                  <a:srgbClr val="FFFFFF"/>
                </a:solidFill>
                <a:latin typeface="Helvetica Neue"/>
                <a:ea typeface="Helvetica Neue"/>
                <a:cs typeface="Helvetica Neue"/>
              </a:rPr>
              <a:t> and fun</a:t>
            </a:r>
          </a:p>
        </p:txBody>
      </p:sp>
      <p:sp>
        <p:nvSpPr>
          <p:cNvPr id="6" name="Rectangle 5">
            <a:extLst>
              <a:ext uri="{FF2B5EF4-FFF2-40B4-BE49-F238E27FC236}">
                <a16:creationId xmlns:a16="http://schemas.microsoft.com/office/drawing/2014/main" id="{1406C645-40CE-4360-A34B-4946369FEF0B}"/>
              </a:ext>
            </a:extLst>
          </p:cNvPr>
          <p:cNvSpPr>
            <a:spLocks noGrp="1"/>
          </p:cNvSpPr>
          <p:nvPr/>
        </p:nvSpPr>
        <p:spPr>
          <a:xfrm>
            <a:off x="402637" y="2868906"/>
            <a:ext cx="6326010" cy="561622"/>
          </a:xfrm>
          <a:prstGeom prst="rect">
            <a:avLst/>
          </a:prstGeom>
          <a:noFill/>
          <a:ln w="0">
            <a:noFill/>
          </a:ln>
        </p:spPr>
        <p:txBody>
          <a:bodyPr wrap="square" lIns="0" tIns="0" rIns="0" bIns="0" anchor="ctr">
            <a:noAutofit/>
          </a:bodyPr>
          <a:lstStyle/>
          <a:p>
            <a:pPr>
              <a:defRPr sz="3000" b="1">
                <a:solidFill>
                  <a:srgbClr val="F5B33B"/>
                </a:solidFill>
                <a:latin typeface="Helvetica Neue"/>
                <a:ea typeface="Helvetica Neue"/>
                <a:cs typeface="Helvetica Neue"/>
              </a:defRPr>
            </a:pPr>
            <a:r>
              <a:rPr lang="en-US" sz="2000" b="1">
                <a:solidFill>
                  <a:srgbClr val="F5B33B"/>
                </a:solidFill>
                <a:latin typeface="Helvetica Neue"/>
                <a:ea typeface="Helvetica Neue"/>
                <a:cs typeface="Helvetica Neue"/>
              </a:rPr>
              <a:t>With friends you </a:t>
            </a:r>
            <a:r>
              <a:rPr sz="2000" b="1">
                <a:solidFill>
                  <a:srgbClr val="F5B33B"/>
                </a:solidFill>
                <a:latin typeface="Helvetica Neue"/>
                <a:ea typeface="Helvetica Neue"/>
                <a:cs typeface="Helvetica Neue"/>
              </a:rPr>
              <a:t>already know.</a:t>
            </a:r>
            <a:endParaRPr lang="en-US" sz="2000"/>
          </a:p>
        </p:txBody>
      </p:sp>
      <p:sp>
        <p:nvSpPr>
          <p:cNvPr id="8" name="Rectangle 7">
            <a:extLst>
              <a:ext uri="{FF2B5EF4-FFF2-40B4-BE49-F238E27FC236}">
                <a16:creationId xmlns:a16="http://schemas.microsoft.com/office/drawing/2014/main" id="{EFC6EEA2-FA58-49EA-A88F-A03C2A43F284}"/>
              </a:ext>
            </a:extLst>
          </p:cNvPr>
          <p:cNvSpPr>
            <a:spLocks noGrp="1"/>
          </p:cNvSpPr>
          <p:nvPr/>
        </p:nvSpPr>
        <p:spPr>
          <a:xfrm>
            <a:off x="628415" y="4768850"/>
            <a:ext cx="4857750" cy="285750"/>
          </a:xfrm>
          <a:prstGeom prst="rect">
            <a:avLst/>
          </a:prstGeom>
          <a:noFill/>
          <a:ln w="0">
            <a:noFill/>
          </a:ln>
        </p:spPr>
        <p:txBody>
          <a:bodyPr wrap="square" lIns="0" tIns="0" rIns="0" bIns="0" anchor="ctr">
            <a:noAutofit/>
          </a:bodyPr>
          <a:lstStyle/>
          <a:p>
            <a:pPr>
              <a:defRPr sz="1200" b="1">
                <a:solidFill>
                  <a:srgbClr val="F5B33B"/>
                </a:solidFill>
                <a:latin typeface="Helvetica Neue"/>
                <a:ea typeface="Helvetica Neue"/>
                <a:cs typeface="Helvetica Neue"/>
              </a:defRPr>
            </a:pPr>
            <a:r>
              <a:rPr lang="en-US" sz="1200" b="1">
                <a:solidFill>
                  <a:srgbClr val="F5B33B"/>
                </a:solidFill>
                <a:latin typeface="Helvetica Neue"/>
                <a:ea typeface="Helvetica Neue"/>
                <a:cs typeface="Helvetica Neue"/>
              </a:rPr>
              <a:t>FOOD</a:t>
            </a:r>
            <a:r>
              <a:rPr sz="1200" b="1">
                <a:solidFill>
                  <a:srgbClr val="F5B33B"/>
                </a:solidFill>
                <a:latin typeface="Helvetica Neue"/>
                <a:ea typeface="Helvetica Neue"/>
                <a:cs typeface="Helvetica Neue"/>
              </a:rPr>
              <a:t>     </a:t>
            </a:r>
            <a:r>
              <a:rPr lang="en-US" sz="1200" b="1">
                <a:solidFill>
                  <a:srgbClr val="F5B33B"/>
                </a:solidFill>
                <a:latin typeface="Helvetica Neue"/>
                <a:ea typeface="Helvetica Neue"/>
                <a:cs typeface="Helvetica Neue"/>
              </a:rPr>
              <a:t> PLACES      TRANSPORT</a:t>
            </a:r>
            <a:endParaRPr sz="1200" b="1">
              <a:solidFill>
                <a:srgbClr val="F5B33B"/>
              </a:solidFill>
              <a:latin typeface="Helvetica Neue"/>
              <a:ea typeface="Helvetica Neue"/>
              <a:cs typeface="Helvetica Neue"/>
            </a:endParaRPr>
          </a:p>
        </p:txBody>
      </p:sp>
      <p:sp>
        <p:nvSpPr>
          <p:cNvPr id="9" name="Rectangle 8">
            <a:extLst>
              <a:ext uri="{FF2B5EF4-FFF2-40B4-BE49-F238E27FC236}">
                <a16:creationId xmlns:a16="http://schemas.microsoft.com/office/drawing/2014/main" id="{3BD786BC-01A9-4FA2-86A9-6602529463F7}"/>
              </a:ext>
            </a:extLst>
          </p:cNvPr>
          <p:cNvSpPr>
            <a:spLocks noGrp="1"/>
          </p:cNvSpPr>
          <p:nvPr/>
        </p:nvSpPr>
        <p:spPr>
          <a:xfrm>
            <a:off x="609600" y="5048250"/>
            <a:ext cx="4714875" cy="9525"/>
          </a:xfrm>
          <a:prstGeom prst="rect">
            <a:avLst/>
          </a:prstGeom>
          <a:solidFill>
            <a:srgbClr val="51637A"/>
          </a:solidFill>
          <a:ln w="0">
            <a:noFill/>
          </a:ln>
        </p:spPr>
        <p:txBody>
          <a:bodyPr/>
          <a:lstStyle/>
          <a:p>
            <a:endParaRPr lang="en-US"/>
          </a:p>
        </p:txBody>
      </p:sp>
      <p:sp>
        <p:nvSpPr>
          <p:cNvPr id="10" name="Rectangle 9">
            <a:extLst>
              <a:ext uri="{FF2B5EF4-FFF2-40B4-BE49-F238E27FC236}">
                <a16:creationId xmlns:a16="http://schemas.microsoft.com/office/drawing/2014/main" id="{9F799C98-E728-4E68-972E-8F7BA023BF85}"/>
              </a:ext>
            </a:extLst>
          </p:cNvPr>
          <p:cNvSpPr>
            <a:spLocks noGrp="1"/>
          </p:cNvSpPr>
          <p:nvPr/>
        </p:nvSpPr>
        <p:spPr>
          <a:xfrm>
            <a:off x="609600" y="5219700"/>
            <a:ext cx="4762500" cy="514350"/>
          </a:xfrm>
          <a:prstGeom prst="rect">
            <a:avLst/>
          </a:prstGeom>
          <a:noFill/>
          <a:ln w="0">
            <a:noFill/>
          </a:ln>
        </p:spPr>
        <p:txBody>
          <a:bodyPr wrap="square" lIns="0" tIns="0" rIns="0" bIns="0" anchor="ctr">
            <a:noAutofit/>
          </a:bodyPr>
          <a:lstStyle/>
          <a:p>
            <a:pPr>
              <a:defRPr sz="1425" b="0">
                <a:solidFill>
                  <a:srgbClr val="CBD4E0"/>
                </a:solidFill>
                <a:latin typeface="Helvetica Neue"/>
                <a:ea typeface="Helvetica Neue"/>
                <a:cs typeface="Helvetica Neue"/>
              </a:defRPr>
            </a:pPr>
            <a:r>
              <a:rPr lang="en-US" sz="1400">
                <a:solidFill>
                  <a:srgbClr val="CBD4E0"/>
                </a:solidFill>
                <a:latin typeface="Helvetica Neue"/>
              </a:rPr>
              <a:t>Team: TZ, SZ</a:t>
            </a:r>
            <a:endParaRPr lang="en-US"/>
          </a:p>
        </p:txBody>
      </p:sp>
      <p:sp>
        <p:nvSpPr>
          <p:cNvPr id="11" name="Rectangle 10">
            <a:extLst>
              <a:ext uri="{FF2B5EF4-FFF2-40B4-BE49-F238E27FC236}">
                <a16:creationId xmlns:a16="http://schemas.microsoft.com/office/drawing/2014/main" id="{2952E86C-057D-4B9C-81EC-80EF388D2AA2}"/>
              </a:ext>
            </a:extLst>
          </p:cNvPr>
          <p:cNvSpPr>
            <a:spLocks noGrp="1"/>
          </p:cNvSpPr>
          <p:nvPr/>
        </p:nvSpPr>
        <p:spPr>
          <a:xfrm>
            <a:off x="10325100" y="6143625"/>
            <a:ext cx="1238250" cy="171450"/>
          </a:xfrm>
          <a:prstGeom prst="rect">
            <a:avLst/>
          </a:prstGeom>
          <a:noFill/>
          <a:ln w="0">
            <a:noFill/>
          </a:ln>
        </p:spPr>
        <p:txBody>
          <a:bodyPr wrap="square" lIns="0" tIns="0" rIns="0" bIns="0" anchor="ctr">
            <a:noAutofit/>
          </a:bodyPr>
          <a:lstStyle/>
          <a:p>
            <a:pPr algn="r">
              <a:lnSpc>
                <a:spcPct val="100000"/>
              </a:lnSpc>
              <a:buNone/>
              <a:defRPr sz="900" b="0">
                <a:solidFill>
                  <a:srgbClr val="FFFFFF"/>
                </a:solidFill>
                <a:latin typeface="Helvetica Neue"/>
                <a:ea typeface="Helvetica Neue"/>
                <a:cs typeface="Helvetica Neue"/>
              </a:defRPr>
            </a:pPr>
            <a:r>
              <a:rPr sz="900" b="0">
                <a:solidFill>
                  <a:srgbClr val="FFFFFF"/>
                </a:solidFill>
                <a:latin typeface="Helvetica Neue"/>
                <a:ea typeface="Helvetica Neue"/>
                <a:cs typeface="Helvetica Neue"/>
              </a:rPr>
              <a:t>Illustrative image</a:t>
            </a:r>
          </a:p>
        </p:txBody>
      </p:sp>
      <p:sp>
        <p:nvSpPr>
          <p:cNvPr id="12" name="Rectangle 11">
            <a:extLst>
              <a:ext uri="{FF2B5EF4-FFF2-40B4-BE49-F238E27FC236}">
                <a16:creationId xmlns:a16="http://schemas.microsoft.com/office/drawing/2014/main" id="{9F06D392-B709-49F1-B13F-75A78F4DBC6E}"/>
              </a:ext>
            </a:extLst>
          </p:cNvPr>
          <p:cNvSpPr>
            <a:spLocks noGrp="1"/>
          </p:cNvSpPr>
          <p:nvPr/>
        </p:nvSpPr>
        <p:spPr>
          <a:xfrm>
            <a:off x="609600" y="6429375"/>
            <a:ext cx="1714500" cy="190500"/>
          </a:xfrm>
          <a:prstGeom prst="rect">
            <a:avLst/>
          </a:prstGeom>
          <a:noFill/>
          <a:ln w="0">
            <a:noFill/>
          </a:ln>
        </p:spPr>
        <p:txBody>
          <a:bodyPr wrap="square" lIns="0" tIns="0" rIns="0" bIns="0" anchor="ctr">
            <a:noAutofit/>
          </a:bodyPr>
          <a:lstStyle/>
          <a:p>
            <a:pPr algn="l">
              <a:lnSpc>
                <a:spcPct val="100000"/>
              </a:lnSpc>
              <a:buNone/>
              <a:defRPr sz="975" b="1">
                <a:solidFill>
                  <a:srgbClr val="D7DFE9"/>
                </a:solidFill>
                <a:latin typeface="Helvetica Neue"/>
                <a:ea typeface="Helvetica Neue"/>
                <a:cs typeface="Helvetica Neue"/>
              </a:defRPr>
            </a:pPr>
            <a:r>
              <a:rPr sz="975" b="1">
                <a:solidFill>
                  <a:srgbClr val="D7DFE9"/>
                </a:solidFill>
                <a:latin typeface="Helvetica Neue"/>
                <a:ea typeface="Helvetica Neue"/>
                <a:cs typeface="Helvetica Neue"/>
              </a:rPr>
              <a:t>PENGPAL</a:t>
            </a:r>
          </a:p>
        </p:txBody>
      </p:sp>
      <p:sp>
        <p:nvSpPr>
          <p:cNvPr id="13" name="Rectangle 12">
            <a:extLst>
              <a:ext uri="{FF2B5EF4-FFF2-40B4-BE49-F238E27FC236}">
                <a16:creationId xmlns:a16="http://schemas.microsoft.com/office/drawing/2014/main" id="{A40267FF-4BE3-4EEE-8AB1-3435E1563C04}"/>
              </a:ext>
            </a:extLst>
          </p:cNvPr>
          <p:cNvSpPr>
            <a:spLocks noGrp="1"/>
          </p:cNvSpPr>
          <p:nvPr/>
        </p:nvSpPr>
        <p:spPr>
          <a:xfrm>
            <a:off x="10668000" y="6429375"/>
            <a:ext cx="914400" cy="190500"/>
          </a:xfrm>
          <a:prstGeom prst="rect">
            <a:avLst/>
          </a:prstGeom>
          <a:noFill/>
          <a:ln w="0">
            <a:noFill/>
          </a:ln>
        </p:spPr>
        <p:txBody>
          <a:bodyPr wrap="square" lIns="0" tIns="0" rIns="0" bIns="0" anchor="ctr">
            <a:noAutofit/>
          </a:bodyPr>
          <a:lstStyle/>
          <a:p>
            <a:pPr algn="r">
              <a:lnSpc>
                <a:spcPct val="100000"/>
              </a:lnSpc>
              <a:buNone/>
              <a:defRPr sz="975" b="0">
                <a:solidFill>
                  <a:srgbClr val="D7DFE9"/>
                </a:solidFill>
                <a:latin typeface="Helvetica Neue"/>
                <a:ea typeface="Helvetica Neue"/>
                <a:cs typeface="Helvetica Neue"/>
              </a:defRPr>
            </a:pPr>
            <a:r>
              <a:rPr sz="975" b="0">
                <a:solidFill>
                  <a:srgbClr val="D7DFE9"/>
                </a:solidFill>
                <a:latin typeface="Helvetica Neue"/>
                <a:ea typeface="Helvetica Neue"/>
                <a:cs typeface="Helvetica Neue"/>
              </a:rPr>
              <a:t>01  /  04</a:t>
            </a:r>
          </a:p>
        </p:txBody>
      </p:sp>
    </p:spTree>
    <p:extLst>
      <p:ext uri="{BB962C8B-B14F-4D97-AF65-F5344CB8AC3E}">
        <p14:creationId xmlns:p14="http://schemas.microsoft.com/office/powerpoint/2010/main" val="1541617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D79539C-1185-42EC-BDB9-30BFCD3E511B}"/>
              </a:ext>
            </a:extLst>
          </p:cNvPr>
          <p:cNvSpPr>
            <a:spLocks noGrp="1"/>
          </p:cNvSpPr>
          <p:nvPr/>
        </p:nvSpPr>
        <p:spPr>
          <a:xfrm>
            <a:off x="609600" y="523875"/>
            <a:ext cx="2381250" cy="228600"/>
          </a:xfrm>
          <a:prstGeom prst="rect">
            <a:avLst/>
          </a:prstGeom>
          <a:noFill/>
          <a:ln w="0">
            <a:noFill/>
          </a:ln>
        </p:spPr>
        <p:txBody>
          <a:bodyPr wrap="square" lIns="0" tIns="0" rIns="0" bIns="0" anchor="ctr">
            <a:noAutofit/>
          </a:bodyPr>
          <a:lstStyle/>
          <a:p>
            <a:pPr algn="l">
              <a:lnSpc>
                <a:spcPct val="100000"/>
              </a:lnSpc>
              <a:buNone/>
              <a:defRPr sz="1125" b="1">
                <a:solidFill>
                  <a:srgbClr val="E84632"/>
                </a:solidFill>
                <a:latin typeface="Helvetica Neue"/>
                <a:ea typeface="Helvetica Neue"/>
                <a:cs typeface="Helvetica Neue"/>
              </a:defRPr>
            </a:pPr>
            <a:r>
              <a:rPr sz="1125" b="1">
                <a:solidFill>
                  <a:srgbClr val="E84632"/>
                </a:solidFill>
                <a:latin typeface="Helvetica Neue"/>
                <a:ea typeface="Helvetica Neue"/>
                <a:cs typeface="Helvetica Neue"/>
              </a:rPr>
              <a:t>MARKET SIGNAL</a:t>
            </a:r>
          </a:p>
        </p:txBody>
      </p:sp>
      <p:sp>
        <p:nvSpPr>
          <p:cNvPr id="2" name="Rectangle 1">
            <a:extLst>
              <a:ext uri="{FF2B5EF4-FFF2-40B4-BE49-F238E27FC236}">
                <a16:creationId xmlns:a16="http://schemas.microsoft.com/office/drawing/2014/main" id="{454DEB42-E037-401A-AE7B-91403762060E}"/>
              </a:ext>
            </a:extLst>
          </p:cNvPr>
          <p:cNvSpPr>
            <a:spLocks noGrp="1"/>
          </p:cNvSpPr>
          <p:nvPr/>
        </p:nvSpPr>
        <p:spPr>
          <a:xfrm>
            <a:off x="609600" y="857250"/>
            <a:ext cx="10668000" cy="666750"/>
          </a:xfrm>
          <a:prstGeom prst="rect">
            <a:avLst/>
          </a:prstGeom>
          <a:noFill/>
          <a:ln w="0">
            <a:noFill/>
          </a:ln>
        </p:spPr>
        <p:txBody>
          <a:bodyPr wrap="square" lIns="0" tIns="0" rIns="0" bIns="0" anchor="ctr">
            <a:noAutofit/>
          </a:bodyPr>
          <a:lstStyle/>
          <a:p>
            <a:pPr algn="l">
              <a:lnSpc>
                <a:spcPct val="100000"/>
              </a:lnSpc>
              <a:buNone/>
              <a:defRPr sz="3300" b="1">
                <a:solidFill>
                  <a:srgbClr val="18345A"/>
                </a:solidFill>
                <a:latin typeface="Helvetica Neue"/>
                <a:ea typeface="Helvetica Neue"/>
                <a:cs typeface="Helvetica Neue"/>
              </a:defRPr>
            </a:pPr>
            <a:r>
              <a:rPr sz="3300" b="1">
                <a:solidFill>
                  <a:srgbClr val="18345A"/>
                </a:solidFill>
                <a:latin typeface="Helvetica Neue"/>
                <a:ea typeface="Helvetica Neue"/>
                <a:cs typeface="Helvetica Neue"/>
              </a:rPr>
              <a:t>China’s inbound travel is </a:t>
            </a:r>
            <a:r>
              <a:rPr sz="6000" b="1">
                <a:solidFill>
                  <a:srgbClr val="18345A"/>
                </a:solidFill>
                <a:latin typeface="Helvetica Neue"/>
                <a:ea typeface="Helvetica Neue"/>
                <a:cs typeface="Helvetica Neue"/>
              </a:rPr>
              <a:t>growing</a:t>
            </a:r>
          </a:p>
        </p:txBody>
      </p:sp>
      <p:sp>
        <p:nvSpPr>
          <p:cNvPr id="4" name="Rectangle 3">
            <a:extLst>
              <a:ext uri="{FF2B5EF4-FFF2-40B4-BE49-F238E27FC236}">
                <a16:creationId xmlns:a16="http://schemas.microsoft.com/office/drawing/2014/main" id="{2E8BAA98-7A72-4046-BDEB-A4E2961CE8DA}"/>
              </a:ext>
            </a:extLst>
          </p:cNvPr>
          <p:cNvSpPr>
            <a:spLocks noGrp="1"/>
          </p:cNvSpPr>
          <p:nvPr/>
        </p:nvSpPr>
        <p:spPr>
          <a:xfrm>
            <a:off x="1756881" y="1712146"/>
            <a:ext cx="4762500" cy="1047750"/>
          </a:xfrm>
          <a:prstGeom prst="rect">
            <a:avLst/>
          </a:prstGeom>
          <a:noFill/>
          <a:ln w="0">
            <a:noFill/>
          </a:ln>
        </p:spPr>
        <p:txBody>
          <a:bodyPr wrap="square" lIns="0" tIns="0" rIns="0" bIns="0" anchor="ctr">
            <a:noAutofit/>
          </a:bodyPr>
          <a:lstStyle/>
          <a:p>
            <a:pPr algn="l">
              <a:lnSpc>
                <a:spcPct val="100000"/>
              </a:lnSpc>
              <a:buNone/>
              <a:defRPr sz="6150" b="1">
                <a:solidFill>
                  <a:srgbClr val="18345A"/>
                </a:solidFill>
                <a:latin typeface="Helvetica Neue"/>
                <a:ea typeface="Helvetica Neue"/>
                <a:cs typeface="Helvetica Neue"/>
              </a:defRPr>
            </a:pPr>
            <a:r>
              <a:rPr sz="6150" b="1">
                <a:solidFill>
                  <a:srgbClr val="18345A"/>
                </a:solidFill>
                <a:latin typeface="Helvetica Neue"/>
                <a:ea typeface="Helvetica Neue"/>
                <a:cs typeface="Helvetica Neue"/>
              </a:rPr>
              <a:t>35.17M</a:t>
            </a:r>
          </a:p>
        </p:txBody>
      </p:sp>
      <p:sp>
        <p:nvSpPr>
          <p:cNvPr id="5" name="Rectangle 4">
            <a:extLst>
              <a:ext uri="{FF2B5EF4-FFF2-40B4-BE49-F238E27FC236}">
                <a16:creationId xmlns:a16="http://schemas.microsoft.com/office/drawing/2014/main" id="{9E5A1EBD-04AA-40D9-8523-CDE0E719DB0C}"/>
              </a:ext>
            </a:extLst>
          </p:cNvPr>
          <p:cNvSpPr>
            <a:spLocks noGrp="1"/>
          </p:cNvSpPr>
          <p:nvPr/>
        </p:nvSpPr>
        <p:spPr>
          <a:xfrm>
            <a:off x="4618447" y="1988370"/>
            <a:ext cx="7030841" cy="647700"/>
          </a:xfrm>
          <a:prstGeom prst="rect">
            <a:avLst/>
          </a:prstGeom>
          <a:noFill/>
          <a:ln w="0">
            <a:noFill/>
          </a:ln>
        </p:spPr>
        <p:txBody>
          <a:bodyPr wrap="square" lIns="0" tIns="0" rIns="0" bIns="0" anchor="ctr">
            <a:noAutofit/>
          </a:bodyPr>
          <a:lstStyle/>
          <a:p>
            <a:pPr>
              <a:defRPr sz="1800" b="0">
                <a:solidFill>
                  <a:srgbClr val="65718A"/>
                </a:solidFill>
                <a:latin typeface="Helvetica Neue"/>
                <a:ea typeface="Helvetica Neue"/>
                <a:cs typeface="Helvetica Neue"/>
              </a:defRPr>
            </a:pPr>
            <a:r>
              <a:rPr sz="1800" b="0">
                <a:solidFill>
                  <a:srgbClr val="65718A"/>
                </a:solidFill>
                <a:latin typeface="Helvetica Neue"/>
                <a:ea typeface="Helvetica Neue"/>
                <a:cs typeface="Helvetica Neue"/>
              </a:rPr>
              <a:t>foreign national visits to </a:t>
            </a:r>
            <a:r>
              <a:rPr lang="en-US">
                <a:solidFill>
                  <a:srgbClr val="65718A"/>
                </a:solidFill>
                <a:latin typeface="Helvetica Neue"/>
                <a:ea typeface="Helvetica Neue"/>
                <a:cs typeface="Helvetica Neue"/>
              </a:rPr>
              <a:t>China in</a:t>
            </a:r>
            <a:r>
              <a:rPr sz="1800" b="0">
                <a:solidFill>
                  <a:srgbClr val="65718A"/>
                </a:solidFill>
                <a:latin typeface="Helvetica Neue"/>
                <a:ea typeface="Helvetica Neue"/>
                <a:cs typeface="Helvetica Neue"/>
              </a:rPr>
              <a:t> 2025</a:t>
            </a:r>
            <a:endParaRPr lang="en-US"/>
          </a:p>
        </p:txBody>
      </p:sp>
      <p:sp>
        <p:nvSpPr>
          <p:cNvPr id="7" name="Rectangle 6">
            <a:extLst>
              <a:ext uri="{FF2B5EF4-FFF2-40B4-BE49-F238E27FC236}">
                <a16:creationId xmlns:a16="http://schemas.microsoft.com/office/drawing/2014/main" id="{6A477000-AEAC-4ADA-B451-B585CA0FAED6}"/>
              </a:ext>
            </a:extLst>
          </p:cNvPr>
          <p:cNvSpPr>
            <a:spLocks noGrp="1"/>
          </p:cNvSpPr>
          <p:nvPr/>
        </p:nvSpPr>
        <p:spPr>
          <a:xfrm>
            <a:off x="1760520" y="2910797"/>
            <a:ext cx="4857750" cy="1047750"/>
          </a:xfrm>
          <a:prstGeom prst="rect">
            <a:avLst/>
          </a:prstGeom>
          <a:noFill/>
          <a:ln w="0">
            <a:noFill/>
          </a:ln>
        </p:spPr>
        <p:txBody>
          <a:bodyPr wrap="square" lIns="0" tIns="0" rIns="0" bIns="0" anchor="ctr">
            <a:noAutofit/>
          </a:bodyPr>
          <a:lstStyle/>
          <a:p>
            <a:pPr algn="l">
              <a:lnSpc>
                <a:spcPct val="100000"/>
              </a:lnSpc>
              <a:buNone/>
              <a:defRPr sz="6150" b="1">
                <a:solidFill>
                  <a:srgbClr val="E84632"/>
                </a:solidFill>
                <a:latin typeface="Helvetica Neue"/>
                <a:ea typeface="Helvetica Neue"/>
                <a:cs typeface="Helvetica Neue"/>
              </a:defRPr>
            </a:pPr>
            <a:r>
              <a:rPr sz="6150" b="1">
                <a:solidFill>
                  <a:srgbClr val="E84632"/>
                </a:solidFill>
                <a:latin typeface="Helvetica Neue"/>
                <a:ea typeface="Helvetica Neue"/>
                <a:cs typeface="Helvetica Neue"/>
              </a:rPr>
              <a:t>+20.4%</a:t>
            </a:r>
          </a:p>
        </p:txBody>
      </p:sp>
      <p:sp>
        <p:nvSpPr>
          <p:cNvPr id="8" name="Rectangle 7">
            <a:extLst>
              <a:ext uri="{FF2B5EF4-FFF2-40B4-BE49-F238E27FC236}">
                <a16:creationId xmlns:a16="http://schemas.microsoft.com/office/drawing/2014/main" id="{F7B3CF3C-9E4A-4E4F-B391-BE0603262658}"/>
              </a:ext>
            </a:extLst>
          </p:cNvPr>
          <p:cNvSpPr>
            <a:spLocks noGrp="1"/>
          </p:cNvSpPr>
          <p:nvPr/>
        </p:nvSpPr>
        <p:spPr>
          <a:xfrm>
            <a:off x="4615452" y="3178460"/>
            <a:ext cx="6312185" cy="664823"/>
          </a:xfrm>
          <a:prstGeom prst="rect">
            <a:avLst/>
          </a:prstGeom>
          <a:noFill/>
          <a:ln w="0">
            <a:noFill/>
          </a:ln>
        </p:spPr>
        <p:txBody>
          <a:bodyPr wrap="square" lIns="0" tIns="0" rIns="0" bIns="0" anchor="ctr">
            <a:noAutofit/>
          </a:bodyPr>
          <a:lstStyle/>
          <a:p>
            <a:pPr>
              <a:defRPr sz="1800" b="0">
                <a:solidFill>
                  <a:srgbClr val="65718A"/>
                </a:solidFill>
                <a:latin typeface="Helvetica Neue"/>
                <a:ea typeface="Helvetica Neue"/>
                <a:cs typeface="Helvetica Neue"/>
              </a:defRPr>
            </a:pPr>
            <a:r>
              <a:rPr sz="1800" b="0">
                <a:solidFill>
                  <a:srgbClr val="65718A"/>
                </a:solidFill>
                <a:latin typeface="Helvetica Neue"/>
                <a:ea typeface="Helvetica Neue"/>
                <a:cs typeface="Helvetica Neue"/>
              </a:rPr>
              <a:t>growth in foreign entries,</a:t>
            </a:r>
            <a:r>
              <a:rPr lang="en-US">
                <a:solidFill>
                  <a:srgbClr val="65718A"/>
                </a:solidFill>
                <a:latin typeface="Helvetica Neue"/>
                <a:ea typeface="Helvetica Neue"/>
                <a:cs typeface="Helvetica Neue"/>
              </a:rPr>
              <a:t> </a:t>
            </a:r>
            <a:r>
              <a:rPr sz="1800" b="0">
                <a:solidFill>
                  <a:srgbClr val="65718A"/>
                </a:solidFill>
                <a:latin typeface="Helvetica Neue"/>
                <a:ea typeface="Helvetica Neue"/>
                <a:cs typeface="Helvetica Neue"/>
              </a:rPr>
              <a:t>first half of 2026 year over year</a:t>
            </a:r>
            <a:endParaRPr lang="en-US"/>
          </a:p>
        </p:txBody>
      </p:sp>
      <p:sp>
        <p:nvSpPr>
          <p:cNvPr id="10" name="Rectangle 9">
            <a:extLst>
              <a:ext uri="{FF2B5EF4-FFF2-40B4-BE49-F238E27FC236}">
                <a16:creationId xmlns:a16="http://schemas.microsoft.com/office/drawing/2014/main" id="{FDB0B04C-5242-4936-A70D-E52C223D933B}"/>
              </a:ext>
            </a:extLst>
          </p:cNvPr>
          <p:cNvSpPr>
            <a:spLocks noGrp="1"/>
          </p:cNvSpPr>
          <p:nvPr/>
        </p:nvSpPr>
        <p:spPr>
          <a:xfrm>
            <a:off x="2792859" y="3959190"/>
            <a:ext cx="1747676" cy="1198437"/>
          </a:xfrm>
          <a:prstGeom prst="rect">
            <a:avLst/>
          </a:prstGeom>
          <a:noFill/>
          <a:ln w="0">
            <a:noFill/>
          </a:ln>
        </p:spPr>
        <p:txBody>
          <a:bodyPr wrap="square" lIns="0" tIns="0" rIns="0" bIns="0" anchor="ctr">
            <a:noAutofit/>
          </a:bodyPr>
          <a:lstStyle/>
          <a:p>
            <a:pPr algn="l">
              <a:lnSpc>
                <a:spcPct val="100000"/>
              </a:lnSpc>
              <a:buNone/>
              <a:defRPr sz="3600" b="1">
                <a:solidFill>
                  <a:srgbClr val="E84632"/>
                </a:solidFill>
                <a:latin typeface="Helvetica Neue"/>
                <a:ea typeface="Helvetica Neue"/>
                <a:cs typeface="Helvetica Neue"/>
              </a:defRPr>
            </a:pPr>
            <a:r>
              <a:rPr sz="4400" b="1">
                <a:solidFill>
                  <a:srgbClr val="E84632"/>
                </a:solidFill>
                <a:latin typeface="Helvetica Neue"/>
                <a:ea typeface="Helvetica Neue"/>
                <a:cs typeface="Helvetica Neue"/>
              </a:rPr>
              <a:t>77.7%</a:t>
            </a:r>
          </a:p>
        </p:txBody>
      </p:sp>
      <p:sp>
        <p:nvSpPr>
          <p:cNvPr id="11" name="Rectangle 10">
            <a:extLst>
              <a:ext uri="{FF2B5EF4-FFF2-40B4-BE49-F238E27FC236}">
                <a16:creationId xmlns:a16="http://schemas.microsoft.com/office/drawing/2014/main" id="{5A746B47-F7E6-4822-81C3-DDACED2DA40E}"/>
              </a:ext>
            </a:extLst>
          </p:cNvPr>
          <p:cNvSpPr>
            <a:spLocks noGrp="1"/>
          </p:cNvSpPr>
          <p:nvPr/>
        </p:nvSpPr>
        <p:spPr>
          <a:xfrm>
            <a:off x="4619090" y="4451065"/>
            <a:ext cx="7953375" cy="514350"/>
          </a:xfrm>
          <a:prstGeom prst="rect">
            <a:avLst/>
          </a:prstGeom>
          <a:noFill/>
          <a:ln w="0">
            <a:noFill/>
          </a:ln>
        </p:spPr>
        <p:txBody>
          <a:bodyPr wrap="square" lIns="0" tIns="0" rIns="0" bIns="0" anchor="ctr">
            <a:noAutofit/>
          </a:bodyPr>
          <a:lstStyle/>
          <a:p>
            <a:pPr>
              <a:lnSpc>
                <a:spcPct val="100000"/>
              </a:lnSpc>
              <a:buNone/>
              <a:defRPr sz="1800" b="0">
                <a:solidFill>
                  <a:srgbClr val="65718A"/>
                </a:solidFill>
                <a:latin typeface="Helvetica Neue"/>
                <a:ea typeface="Helvetica Neue"/>
                <a:cs typeface="Helvetica Neue"/>
              </a:defRPr>
            </a:pPr>
            <a:r>
              <a:rPr>
                <a:solidFill>
                  <a:srgbClr val="65718A"/>
                </a:solidFill>
                <a:latin typeface="Helvetica Neue"/>
              </a:rPr>
              <a:t>of foreign arrivals in H1 2026 entered </a:t>
            </a:r>
            <a:r>
              <a:rPr lang="en-US" sz="2400" b="1">
                <a:solidFill>
                  <a:srgbClr val="65718A"/>
                </a:solidFill>
                <a:latin typeface="Helvetica Neue"/>
              </a:rPr>
              <a:t>visa-free</a:t>
            </a:r>
          </a:p>
        </p:txBody>
      </p:sp>
      <p:sp>
        <p:nvSpPr>
          <p:cNvPr id="12" name="Rectangle 11">
            <a:extLst>
              <a:ext uri="{FF2B5EF4-FFF2-40B4-BE49-F238E27FC236}">
                <a16:creationId xmlns:a16="http://schemas.microsoft.com/office/drawing/2014/main" id="{4F04A057-C97E-4F5D-ABE1-8D8512B5CFDD}"/>
              </a:ext>
            </a:extLst>
          </p:cNvPr>
          <p:cNvSpPr>
            <a:spLocks noGrp="1"/>
          </p:cNvSpPr>
          <p:nvPr/>
        </p:nvSpPr>
        <p:spPr>
          <a:xfrm>
            <a:off x="609600" y="5314950"/>
            <a:ext cx="2286000" cy="209550"/>
          </a:xfrm>
          <a:prstGeom prst="rect">
            <a:avLst/>
          </a:prstGeom>
          <a:noFill/>
          <a:ln w="0">
            <a:noFill/>
          </a:ln>
        </p:spPr>
        <p:txBody>
          <a:bodyPr wrap="square" lIns="0" tIns="0" rIns="0" bIns="0" anchor="ctr">
            <a:noAutofit/>
          </a:bodyPr>
          <a:lstStyle/>
          <a:p>
            <a:pPr algn="l">
              <a:lnSpc>
                <a:spcPct val="100000"/>
              </a:lnSpc>
              <a:buNone/>
              <a:defRPr sz="1050" b="1">
                <a:solidFill>
                  <a:srgbClr val="E84632"/>
                </a:solidFill>
                <a:latin typeface="Helvetica Neue"/>
                <a:ea typeface="Helvetica Neue"/>
                <a:cs typeface="Helvetica Neue"/>
              </a:defRPr>
            </a:pPr>
            <a:r>
              <a:rPr sz="1050" b="1">
                <a:solidFill>
                  <a:srgbClr val="E84632"/>
                </a:solidFill>
                <a:latin typeface="Helvetica Neue"/>
                <a:ea typeface="Helvetica Neue"/>
                <a:cs typeface="Helvetica Neue"/>
              </a:rPr>
              <a:t>CUSTOMER HYPOTHESIS</a:t>
            </a:r>
          </a:p>
        </p:txBody>
      </p:sp>
      <p:sp>
        <p:nvSpPr>
          <p:cNvPr id="13" name="Rectangle 12">
            <a:extLst>
              <a:ext uri="{FF2B5EF4-FFF2-40B4-BE49-F238E27FC236}">
                <a16:creationId xmlns:a16="http://schemas.microsoft.com/office/drawing/2014/main" id="{584F52E5-34BD-4955-A7E4-8864532F89FB}"/>
              </a:ext>
            </a:extLst>
          </p:cNvPr>
          <p:cNvSpPr>
            <a:spLocks noGrp="1"/>
          </p:cNvSpPr>
          <p:nvPr/>
        </p:nvSpPr>
        <p:spPr>
          <a:xfrm>
            <a:off x="609600" y="5600700"/>
            <a:ext cx="10287000" cy="457200"/>
          </a:xfrm>
          <a:prstGeom prst="rect">
            <a:avLst/>
          </a:prstGeom>
          <a:noFill/>
          <a:ln w="0">
            <a:noFill/>
          </a:ln>
        </p:spPr>
        <p:txBody>
          <a:bodyPr wrap="square" lIns="0" tIns="0" rIns="0" bIns="0" anchor="ctr">
            <a:noAutofit/>
          </a:bodyPr>
          <a:lstStyle/>
          <a:p>
            <a:pPr>
              <a:defRPr sz="1725" b="0">
                <a:solidFill>
                  <a:srgbClr val="18345A"/>
                </a:solidFill>
                <a:latin typeface="Helvetica Neue"/>
                <a:ea typeface="Helvetica Neue"/>
                <a:cs typeface="Helvetica Neue"/>
              </a:defRPr>
            </a:pPr>
            <a:r>
              <a:rPr sz="1700" b="0">
                <a:solidFill>
                  <a:srgbClr val="18345A"/>
                </a:solidFill>
                <a:latin typeface="Helvetica Neue"/>
                <a:ea typeface="Helvetica Neue"/>
                <a:cs typeface="Helvetica Neue"/>
              </a:rPr>
              <a:t>Independent, first-time travelers who want local help</a:t>
            </a:r>
            <a:r>
              <a:rPr lang="en-US" sz="1700">
                <a:solidFill>
                  <a:srgbClr val="18345A"/>
                </a:solidFill>
                <a:latin typeface="Helvetica Neue"/>
                <a:ea typeface="Helvetica Neue"/>
                <a:cs typeface="Helvetica Neue"/>
              </a:rPr>
              <a:t>, connections and authentic experiences</a:t>
            </a:r>
            <a:r>
              <a:rPr sz="1700" b="0">
                <a:solidFill>
                  <a:srgbClr val="18345A"/>
                </a:solidFill>
                <a:latin typeface="Helvetica Neue"/>
                <a:ea typeface="Helvetica Neue"/>
                <a:cs typeface="Helvetica Neue"/>
              </a:rPr>
              <a:t>.</a:t>
            </a:r>
          </a:p>
        </p:txBody>
      </p:sp>
      <p:sp>
        <p:nvSpPr>
          <p:cNvPr id="14" name="Rectangle 13">
            <a:extLst>
              <a:ext uri="{FF2B5EF4-FFF2-40B4-BE49-F238E27FC236}">
                <a16:creationId xmlns:a16="http://schemas.microsoft.com/office/drawing/2014/main" id="{D5D6B54E-F9E9-477A-A242-E06955685B08}"/>
              </a:ext>
            </a:extLst>
          </p:cNvPr>
          <p:cNvSpPr>
            <a:spLocks noGrp="1"/>
          </p:cNvSpPr>
          <p:nvPr/>
        </p:nvSpPr>
        <p:spPr>
          <a:xfrm>
            <a:off x="609600" y="6058970"/>
            <a:ext cx="9906000" cy="209550"/>
          </a:xfrm>
          <a:prstGeom prst="rect">
            <a:avLst/>
          </a:prstGeom>
          <a:noFill/>
          <a:ln w="0">
            <a:noFill/>
          </a:ln>
        </p:spPr>
        <p:txBody>
          <a:bodyPr wrap="square" lIns="0" tIns="0" rIns="0" bIns="0" anchor="ctr">
            <a:noAutofit/>
          </a:bodyPr>
          <a:lstStyle/>
          <a:p>
            <a:pPr algn="l">
              <a:lnSpc>
                <a:spcPct val="100000"/>
              </a:lnSpc>
              <a:buNone/>
              <a:defRPr sz="975" b="0">
                <a:solidFill>
                  <a:srgbClr val="65718A"/>
                </a:solidFill>
                <a:latin typeface="Helvetica Neue"/>
                <a:ea typeface="Helvetica Neue"/>
                <a:cs typeface="Helvetica Neue"/>
              </a:defRPr>
            </a:pPr>
            <a:r>
              <a:rPr sz="975" b="0">
                <a:solidFill>
                  <a:srgbClr val="65718A"/>
                </a:solidFill>
                <a:latin typeface="Helvetica Neue"/>
                <a:ea typeface="Helvetica Neue"/>
                <a:cs typeface="Helvetica Neue"/>
              </a:rPr>
              <a:t>Sources: China National Bureau of Statistics, 2025 Statistical Communiqué; National Immigration Administration, H1 2026</a:t>
            </a:r>
          </a:p>
        </p:txBody>
      </p:sp>
      <p:sp>
        <p:nvSpPr>
          <p:cNvPr id="15" name="Rectangle 14">
            <a:extLst>
              <a:ext uri="{FF2B5EF4-FFF2-40B4-BE49-F238E27FC236}">
                <a16:creationId xmlns:a16="http://schemas.microsoft.com/office/drawing/2014/main" id="{871A4361-D331-45F8-A039-6CA1A29A5618}"/>
              </a:ext>
            </a:extLst>
          </p:cNvPr>
          <p:cNvSpPr>
            <a:spLocks noGrp="1"/>
          </p:cNvSpPr>
          <p:nvPr/>
        </p:nvSpPr>
        <p:spPr>
          <a:xfrm>
            <a:off x="10044701" y="6429375"/>
            <a:ext cx="1714500" cy="190500"/>
          </a:xfrm>
          <a:prstGeom prst="rect">
            <a:avLst/>
          </a:prstGeom>
          <a:noFill/>
          <a:ln w="0">
            <a:noFill/>
          </a:ln>
        </p:spPr>
        <p:txBody>
          <a:bodyPr wrap="square" lIns="0" tIns="0" rIns="0" bIns="0" anchor="ctr">
            <a:noAutofit/>
          </a:bodyPr>
          <a:lstStyle/>
          <a:p>
            <a:pPr algn="l">
              <a:lnSpc>
                <a:spcPct val="100000"/>
              </a:lnSpc>
              <a:buNone/>
              <a:defRPr sz="975" b="1">
                <a:solidFill>
                  <a:srgbClr val="65718A"/>
                </a:solidFill>
                <a:latin typeface="Helvetica Neue"/>
                <a:ea typeface="Helvetica Neue"/>
                <a:cs typeface="Helvetica Neue"/>
              </a:defRPr>
            </a:pPr>
            <a:r>
              <a:rPr sz="975" b="1">
                <a:solidFill>
                  <a:srgbClr val="65718A"/>
                </a:solidFill>
                <a:latin typeface="Helvetica Neue"/>
                <a:ea typeface="Helvetica Neue"/>
                <a:cs typeface="Helvetica Neue"/>
              </a:rPr>
              <a:t>PENGPAL</a:t>
            </a:r>
          </a:p>
        </p:txBody>
      </p:sp>
      <p:sp>
        <p:nvSpPr>
          <p:cNvPr id="16" name="Rectangle 15">
            <a:extLst>
              <a:ext uri="{FF2B5EF4-FFF2-40B4-BE49-F238E27FC236}">
                <a16:creationId xmlns:a16="http://schemas.microsoft.com/office/drawing/2014/main" id="{8CD173A2-78FD-4C35-A4BB-A0EE17322CEB}"/>
              </a:ext>
            </a:extLst>
          </p:cNvPr>
          <p:cNvSpPr>
            <a:spLocks noGrp="1"/>
          </p:cNvSpPr>
          <p:nvPr/>
        </p:nvSpPr>
        <p:spPr>
          <a:xfrm>
            <a:off x="10668000" y="6429375"/>
            <a:ext cx="914400" cy="190500"/>
          </a:xfrm>
          <a:prstGeom prst="rect">
            <a:avLst/>
          </a:prstGeom>
          <a:noFill/>
          <a:ln w="0">
            <a:noFill/>
          </a:ln>
        </p:spPr>
        <p:txBody>
          <a:bodyPr wrap="square" lIns="0" tIns="0" rIns="0" bIns="0" anchor="ctr">
            <a:noAutofit/>
          </a:bodyPr>
          <a:lstStyle/>
          <a:p>
            <a:pPr algn="r">
              <a:lnSpc>
                <a:spcPct val="100000"/>
              </a:lnSpc>
              <a:buNone/>
              <a:defRPr sz="975" b="0">
                <a:solidFill>
                  <a:srgbClr val="65718A"/>
                </a:solidFill>
                <a:latin typeface="Helvetica Neue"/>
                <a:ea typeface="Helvetica Neue"/>
                <a:cs typeface="Helvetica Neue"/>
              </a:defRPr>
            </a:pPr>
            <a:r>
              <a:rPr sz="975" b="0">
                <a:solidFill>
                  <a:srgbClr val="65718A"/>
                </a:solidFill>
                <a:latin typeface="Helvetica Neue"/>
                <a:ea typeface="Helvetica Neue"/>
                <a:cs typeface="Helvetica Neue"/>
              </a:rPr>
              <a:t>02  /  04</a:t>
            </a:r>
          </a:p>
        </p:txBody>
      </p:sp>
    </p:spTree>
    <p:extLst>
      <p:ext uri="{BB962C8B-B14F-4D97-AF65-F5344CB8AC3E}">
        <p14:creationId xmlns:p14="http://schemas.microsoft.com/office/powerpoint/2010/main" val="1058142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B4BB7DD5-2908-4C1C-8F64-13B2A8B00A38}"/>
              </a:ext>
            </a:extLst>
          </p:cNvPr>
          <p:cNvSpPr>
            <a:spLocks noGrp="1"/>
          </p:cNvSpPr>
          <p:nvPr/>
        </p:nvSpPr>
        <p:spPr>
          <a:xfrm>
            <a:off x="0" y="0"/>
            <a:ext cx="7810500" cy="6858000"/>
          </a:xfrm>
          <a:prstGeom prst="rect">
            <a:avLst/>
          </a:prstGeom>
          <a:solidFill>
            <a:srgbClr val="18345A"/>
          </a:solidFill>
          <a:ln w="0">
            <a:noFill/>
          </a:ln>
        </p:spPr>
        <p:txBody>
          <a:bodyPr/>
          <a:lstStyle/>
          <a:p>
            <a:endParaRPr lang="en-US"/>
          </a:p>
        </p:txBody>
      </p:sp>
      <p:sp>
        <p:nvSpPr>
          <p:cNvPr id="2" name="Rectangle 1">
            <a:extLst>
              <a:ext uri="{FF2B5EF4-FFF2-40B4-BE49-F238E27FC236}">
                <a16:creationId xmlns:a16="http://schemas.microsoft.com/office/drawing/2014/main" id="{57E949B9-50D5-48FF-BFA6-5C0FD3D49480}"/>
              </a:ext>
            </a:extLst>
          </p:cNvPr>
          <p:cNvSpPr>
            <a:spLocks noGrp="1"/>
          </p:cNvSpPr>
          <p:nvPr/>
        </p:nvSpPr>
        <p:spPr>
          <a:xfrm>
            <a:off x="609600" y="523875"/>
            <a:ext cx="2286000" cy="228600"/>
          </a:xfrm>
          <a:prstGeom prst="rect">
            <a:avLst/>
          </a:prstGeom>
          <a:noFill/>
          <a:ln w="0">
            <a:noFill/>
          </a:ln>
        </p:spPr>
        <p:txBody>
          <a:bodyPr wrap="square" lIns="0" tIns="0" rIns="0" bIns="0" anchor="ctr">
            <a:noAutofit/>
          </a:bodyPr>
          <a:lstStyle/>
          <a:p>
            <a:pPr algn="l">
              <a:lnSpc>
                <a:spcPct val="100000"/>
              </a:lnSpc>
              <a:buNone/>
              <a:defRPr sz="1125" b="1">
                <a:solidFill>
                  <a:srgbClr val="F5B33B"/>
                </a:solidFill>
                <a:latin typeface="Helvetica Neue"/>
                <a:ea typeface="Helvetica Neue"/>
                <a:cs typeface="Helvetica Neue"/>
              </a:defRPr>
            </a:pPr>
            <a:r>
              <a:rPr sz="1125" b="1">
                <a:solidFill>
                  <a:srgbClr val="F5B33B"/>
                </a:solidFill>
                <a:latin typeface="Helvetica Neue"/>
                <a:ea typeface="Helvetica Neue"/>
                <a:cs typeface="Helvetica Neue"/>
              </a:rPr>
              <a:t>THE SOLUTION</a:t>
            </a:r>
          </a:p>
        </p:txBody>
      </p:sp>
      <p:sp>
        <p:nvSpPr>
          <p:cNvPr id="3" name="Rectangle 2">
            <a:extLst>
              <a:ext uri="{FF2B5EF4-FFF2-40B4-BE49-F238E27FC236}">
                <a16:creationId xmlns:a16="http://schemas.microsoft.com/office/drawing/2014/main" id="{5A4A0830-E29F-4089-A82B-5B347CF523EA}"/>
              </a:ext>
            </a:extLst>
          </p:cNvPr>
          <p:cNvSpPr>
            <a:spLocks noGrp="1"/>
          </p:cNvSpPr>
          <p:nvPr/>
        </p:nvSpPr>
        <p:spPr>
          <a:xfrm>
            <a:off x="609600" y="866775"/>
            <a:ext cx="6762750" cy="590550"/>
          </a:xfrm>
          <a:prstGeom prst="rect">
            <a:avLst/>
          </a:prstGeom>
          <a:noFill/>
          <a:ln w="0">
            <a:noFill/>
          </a:ln>
        </p:spPr>
        <p:txBody>
          <a:bodyPr wrap="square" lIns="0" tIns="0" rIns="0" bIns="0" anchor="ctr">
            <a:noAutofit/>
          </a:bodyPr>
          <a:lstStyle/>
          <a:p>
            <a:pPr algn="l">
              <a:lnSpc>
                <a:spcPct val="100000"/>
              </a:lnSpc>
              <a:buNone/>
              <a:defRPr sz="2925" b="1">
                <a:solidFill>
                  <a:srgbClr val="FFFFFF"/>
                </a:solidFill>
                <a:latin typeface="Helvetica Neue"/>
                <a:ea typeface="Helvetica Neue"/>
                <a:cs typeface="Helvetica Neue"/>
              </a:defRPr>
            </a:pPr>
            <a:r>
              <a:rPr sz="2925" b="1">
                <a:solidFill>
                  <a:srgbClr val="FFFFFF"/>
                </a:solidFill>
                <a:latin typeface="Helvetica Neue"/>
                <a:ea typeface="Helvetica Neue"/>
                <a:cs typeface="Helvetica Neue"/>
              </a:rPr>
              <a:t>Meet a local. Explore with confidence.</a:t>
            </a:r>
          </a:p>
        </p:txBody>
      </p:sp>
      <p:sp>
        <p:nvSpPr>
          <p:cNvPr id="5" name="Rectangle 4">
            <a:extLst>
              <a:ext uri="{FF2B5EF4-FFF2-40B4-BE49-F238E27FC236}">
                <a16:creationId xmlns:a16="http://schemas.microsoft.com/office/drawing/2014/main" id="{2AF0F22A-1452-46AB-B2EB-62B7314BA90E}"/>
              </a:ext>
            </a:extLst>
          </p:cNvPr>
          <p:cNvSpPr>
            <a:spLocks noGrp="1"/>
          </p:cNvSpPr>
          <p:nvPr/>
        </p:nvSpPr>
        <p:spPr>
          <a:xfrm>
            <a:off x="1257300" y="1943100"/>
            <a:ext cx="5238750" cy="209550"/>
          </a:xfrm>
          <a:prstGeom prst="rect">
            <a:avLst/>
          </a:prstGeom>
          <a:noFill/>
          <a:ln w="0">
            <a:noFill/>
          </a:ln>
        </p:spPr>
        <p:txBody>
          <a:bodyPr wrap="square" lIns="0" tIns="0" rIns="0" bIns="0" anchor="ctr">
            <a:noAutofit/>
          </a:bodyPr>
          <a:lstStyle/>
          <a:p>
            <a:pPr marL="171450" indent="-171450" algn="l">
              <a:lnSpc>
                <a:spcPct val="100000"/>
              </a:lnSpc>
              <a:buFont typeface="Arial"/>
              <a:buChar char="•"/>
              <a:defRPr sz="975" b="1">
                <a:solidFill>
                  <a:srgbClr val="F3B743"/>
                </a:solidFill>
                <a:latin typeface="Helvetica Neue"/>
                <a:ea typeface="Helvetica Neue"/>
                <a:cs typeface="Helvetica Neue"/>
              </a:defRPr>
            </a:pPr>
            <a:r>
              <a:rPr sz="975" b="1">
                <a:solidFill>
                  <a:srgbClr val="F3B743"/>
                </a:solidFill>
                <a:latin typeface="Helvetica Neue"/>
                <a:ea typeface="Helvetica Neue"/>
                <a:cs typeface="Helvetica Neue"/>
              </a:rPr>
              <a:t>BEFORE YOU GO</a:t>
            </a:r>
            <a:endParaRPr lang="en-US"/>
          </a:p>
        </p:txBody>
      </p:sp>
      <p:sp>
        <p:nvSpPr>
          <p:cNvPr id="6" name="Rectangle 5">
            <a:extLst>
              <a:ext uri="{FF2B5EF4-FFF2-40B4-BE49-F238E27FC236}">
                <a16:creationId xmlns:a16="http://schemas.microsoft.com/office/drawing/2014/main" id="{1D7B3ED8-DD6B-4F95-A48C-99B1BCF32763}"/>
              </a:ext>
            </a:extLst>
          </p:cNvPr>
          <p:cNvSpPr>
            <a:spLocks noGrp="1"/>
          </p:cNvSpPr>
          <p:nvPr/>
        </p:nvSpPr>
        <p:spPr>
          <a:xfrm>
            <a:off x="1257300" y="2238375"/>
            <a:ext cx="5810250" cy="447675"/>
          </a:xfrm>
          <a:prstGeom prst="rect">
            <a:avLst/>
          </a:prstGeom>
          <a:noFill/>
          <a:ln w="0">
            <a:noFill/>
          </a:ln>
        </p:spPr>
        <p:txBody>
          <a:bodyPr wrap="square" lIns="0" tIns="0" rIns="0" bIns="0" anchor="ctr">
            <a:noAutofit/>
          </a:bodyPr>
          <a:lstStyle/>
          <a:p>
            <a:pPr>
              <a:defRPr sz="1650" b="0">
                <a:solidFill>
                  <a:srgbClr val="FFFFFF"/>
                </a:solidFill>
                <a:latin typeface="Helvetica Neue"/>
                <a:ea typeface="Helvetica Neue"/>
                <a:cs typeface="Helvetica Neue"/>
              </a:defRPr>
            </a:pPr>
            <a:r>
              <a:rPr lang="en-US" sz="1650">
                <a:solidFill>
                  <a:srgbClr val="FFFFFF"/>
                </a:solidFill>
                <a:latin typeface="Helvetica Neue"/>
                <a:ea typeface="Helvetica Neue"/>
                <a:cs typeface="Helvetica Neue"/>
              </a:rPr>
              <a:t>Match your host </a:t>
            </a:r>
            <a:r>
              <a:rPr sz="1650" b="0">
                <a:solidFill>
                  <a:srgbClr val="FFFFFF"/>
                </a:solidFill>
                <a:latin typeface="Helvetica Neue"/>
                <a:ea typeface="Helvetica Neue"/>
                <a:cs typeface="Helvetica Neue"/>
              </a:rPr>
              <a:t>and set expectations.</a:t>
            </a:r>
          </a:p>
        </p:txBody>
      </p:sp>
      <p:sp>
        <p:nvSpPr>
          <p:cNvPr id="7" name="Rectangle 6">
            <a:extLst>
              <a:ext uri="{FF2B5EF4-FFF2-40B4-BE49-F238E27FC236}">
                <a16:creationId xmlns:a16="http://schemas.microsoft.com/office/drawing/2014/main" id="{0666B376-61E0-4AFD-A9F2-AB1647AF547B}"/>
              </a:ext>
            </a:extLst>
          </p:cNvPr>
          <p:cNvSpPr>
            <a:spLocks noGrp="1"/>
          </p:cNvSpPr>
          <p:nvPr/>
        </p:nvSpPr>
        <p:spPr>
          <a:xfrm>
            <a:off x="1257300" y="2809875"/>
            <a:ext cx="5905500" cy="9525"/>
          </a:xfrm>
          <a:prstGeom prst="rect">
            <a:avLst/>
          </a:prstGeom>
          <a:solidFill>
            <a:srgbClr val="526780"/>
          </a:solidFill>
          <a:ln w="0">
            <a:noFill/>
          </a:ln>
        </p:spPr>
        <p:txBody>
          <a:bodyPr/>
          <a:lstStyle/>
          <a:p>
            <a:endParaRPr lang="en-US"/>
          </a:p>
        </p:txBody>
      </p:sp>
      <p:sp>
        <p:nvSpPr>
          <p:cNvPr id="9" name="Rectangle 8">
            <a:extLst>
              <a:ext uri="{FF2B5EF4-FFF2-40B4-BE49-F238E27FC236}">
                <a16:creationId xmlns:a16="http://schemas.microsoft.com/office/drawing/2014/main" id="{B6EE665E-9F75-4DE0-A1A2-1042E58412ED}"/>
              </a:ext>
            </a:extLst>
          </p:cNvPr>
          <p:cNvSpPr>
            <a:spLocks noGrp="1"/>
          </p:cNvSpPr>
          <p:nvPr/>
        </p:nvSpPr>
        <p:spPr>
          <a:xfrm>
            <a:off x="1257300" y="3009900"/>
            <a:ext cx="5238750" cy="209550"/>
          </a:xfrm>
          <a:prstGeom prst="rect">
            <a:avLst/>
          </a:prstGeom>
          <a:noFill/>
          <a:ln w="0">
            <a:noFill/>
          </a:ln>
        </p:spPr>
        <p:txBody>
          <a:bodyPr wrap="square" lIns="0" tIns="0" rIns="0" bIns="0" anchor="ctr">
            <a:noAutofit/>
          </a:bodyPr>
          <a:lstStyle/>
          <a:p>
            <a:pPr marL="171450" indent="-171450" algn="l">
              <a:lnSpc>
                <a:spcPct val="100000"/>
              </a:lnSpc>
              <a:buFont typeface="Arial"/>
              <a:buChar char="•"/>
              <a:defRPr sz="975" b="1">
                <a:solidFill>
                  <a:srgbClr val="F3B743"/>
                </a:solidFill>
                <a:latin typeface="Helvetica Neue"/>
                <a:ea typeface="Helvetica Neue"/>
                <a:cs typeface="Helvetica Neue"/>
              </a:defRPr>
            </a:pPr>
            <a:r>
              <a:rPr sz="975" b="1">
                <a:solidFill>
                  <a:srgbClr val="F3B743"/>
                </a:solidFill>
                <a:latin typeface="Helvetica Neue"/>
                <a:ea typeface="Helvetica Neue"/>
                <a:cs typeface="Helvetica Neue"/>
              </a:rPr>
              <a:t>IN THE CITY</a:t>
            </a:r>
            <a:endParaRPr lang="en-US"/>
          </a:p>
        </p:txBody>
      </p:sp>
      <p:sp>
        <p:nvSpPr>
          <p:cNvPr id="10" name="Rectangle 9">
            <a:extLst>
              <a:ext uri="{FF2B5EF4-FFF2-40B4-BE49-F238E27FC236}">
                <a16:creationId xmlns:a16="http://schemas.microsoft.com/office/drawing/2014/main" id="{7E1A9208-CD20-4F7C-8E4E-B4E0E0431928}"/>
              </a:ext>
            </a:extLst>
          </p:cNvPr>
          <p:cNvSpPr>
            <a:spLocks noGrp="1"/>
          </p:cNvSpPr>
          <p:nvPr/>
        </p:nvSpPr>
        <p:spPr>
          <a:xfrm>
            <a:off x="1257300" y="3305175"/>
            <a:ext cx="5810250" cy="447675"/>
          </a:xfrm>
          <a:prstGeom prst="rect">
            <a:avLst/>
          </a:prstGeom>
          <a:noFill/>
          <a:ln w="0">
            <a:noFill/>
          </a:ln>
        </p:spPr>
        <p:txBody>
          <a:bodyPr wrap="square" lIns="0" tIns="0" rIns="0" bIns="0" anchor="ctr">
            <a:noAutofit/>
          </a:bodyPr>
          <a:lstStyle/>
          <a:p>
            <a:pPr algn="l">
              <a:lnSpc>
                <a:spcPct val="100000"/>
              </a:lnSpc>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Explore local food and neighborhoods together.</a:t>
            </a:r>
          </a:p>
        </p:txBody>
      </p:sp>
      <p:sp>
        <p:nvSpPr>
          <p:cNvPr id="11" name="Rectangle 10">
            <a:extLst>
              <a:ext uri="{FF2B5EF4-FFF2-40B4-BE49-F238E27FC236}">
                <a16:creationId xmlns:a16="http://schemas.microsoft.com/office/drawing/2014/main" id="{4B9F5707-7647-4D31-85E5-DFC2D99AE751}"/>
              </a:ext>
            </a:extLst>
          </p:cNvPr>
          <p:cNvSpPr>
            <a:spLocks noGrp="1"/>
          </p:cNvSpPr>
          <p:nvPr/>
        </p:nvSpPr>
        <p:spPr>
          <a:xfrm>
            <a:off x="1257300" y="3876675"/>
            <a:ext cx="5905500" cy="9525"/>
          </a:xfrm>
          <a:prstGeom prst="rect">
            <a:avLst/>
          </a:prstGeom>
          <a:solidFill>
            <a:srgbClr val="526780"/>
          </a:solidFill>
          <a:ln w="0">
            <a:noFill/>
          </a:ln>
        </p:spPr>
        <p:txBody>
          <a:bodyPr/>
          <a:lstStyle/>
          <a:p>
            <a:endParaRPr lang="en-US"/>
          </a:p>
        </p:txBody>
      </p:sp>
      <p:sp>
        <p:nvSpPr>
          <p:cNvPr id="13" name="Rectangle 12">
            <a:extLst>
              <a:ext uri="{FF2B5EF4-FFF2-40B4-BE49-F238E27FC236}">
                <a16:creationId xmlns:a16="http://schemas.microsoft.com/office/drawing/2014/main" id="{BDAB4613-1A09-4E17-9FE0-207B34E3E06F}"/>
              </a:ext>
            </a:extLst>
          </p:cNvPr>
          <p:cNvSpPr>
            <a:spLocks noGrp="1"/>
          </p:cNvSpPr>
          <p:nvPr/>
        </p:nvSpPr>
        <p:spPr>
          <a:xfrm>
            <a:off x="1257300" y="4076700"/>
            <a:ext cx="5238750" cy="209550"/>
          </a:xfrm>
          <a:prstGeom prst="rect">
            <a:avLst/>
          </a:prstGeom>
          <a:noFill/>
          <a:ln w="0">
            <a:noFill/>
          </a:ln>
        </p:spPr>
        <p:txBody>
          <a:bodyPr wrap="square" lIns="0" tIns="0" rIns="0" bIns="0" anchor="ctr">
            <a:noAutofit/>
          </a:bodyPr>
          <a:lstStyle/>
          <a:p>
            <a:pPr marL="171450" indent="-171450" algn="l">
              <a:lnSpc>
                <a:spcPct val="100000"/>
              </a:lnSpc>
              <a:buFont typeface="Arial"/>
              <a:buChar char="•"/>
              <a:defRPr sz="975" b="1">
                <a:solidFill>
                  <a:srgbClr val="F3B743"/>
                </a:solidFill>
                <a:latin typeface="Helvetica Neue"/>
                <a:ea typeface="Helvetica Neue"/>
                <a:cs typeface="Helvetica Neue"/>
              </a:defRPr>
            </a:pPr>
            <a:r>
              <a:rPr sz="975" b="1">
                <a:solidFill>
                  <a:srgbClr val="F3B743"/>
                </a:solidFill>
                <a:latin typeface="Helvetica Neue"/>
                <a:ea typeface="Helvetica Neue"/>
                <a:cs typeface="Helvetica Neue"/>
              </a:rPr>
              <a:t>PRACTICAL HELP</a:t>
            </a:r>
            <a:endParaRPr lang="en-US"/>
          </a:p>
        </p:txBody>
      </p:sp>
      <p:sp>
        <p:nvSpPr>
          <p:cNvPr id="14" name="Rectangle 13">
            <a:extLst>
              <a:ext uri="{FF2B5EF4-FFF2-40B4-BE49-F238E27FC236}">
                <a16:creationId xmlns:a16="http://schemas.microsoft.com/office/drawing/2014/main" id="{DA89BD1C-E0E2-44A4-9A2E-5AE930EE8C8D}"/>
              </a:ext>
            </a:extLst>
          </p:cNvPr>
          <p:cNvSpPr>
            <a:spLocks noGrp="1"/>
          </p:cNvSpPr>
          <p:nvPr/>
        </p:nvSpPr>
        <p:spPr>
          <a:xfrm>
            <a:off x="1257300" y="4371975"/>
            <a:ext cx="5810250" cy="447675"/>
          </a:xfrm>
          <a:prstGeom prst="rect">
            <a:avLst/>
          </a:prstGeom>
          <a:noFill/>
          <a:ln w="0">
            <a:noFill/>
          </a:ln>
        </p:spPr>
        <p:txBody>
          <a:bodyPr wrap="square" lIns="0" tIns="0" rIns="0" bIns="0" anchor="ctr">
            <a:noAutofit/>
          </a:bodyPr>
          <a:lstStyle/>
          <a:p>
            <a:pPr algn="l">
              <a:lnSpc>
                <a:spcPct val="100000"/>
              </a:lnSpc>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Get help with apps, transit and payments.</a:t>
            </a:r>
          </a:p>
        </p:txBody>
      </p:sp>
      <p:sp>
        <p:nvSpPr>
          <p:cNvPr id="15" name="Rectangle 14">
            <a:extLst>
              <a:ext uri="{FF2B5EF4-FFF2-40B4-BE49-F238E27FC236}">
                <a16:creationId xmlns:a16="http://schemas.microsoft.com/office/drawing/2014/main" id="{3A96C300-392B-4A38-BDC7-E346D11DC259}"/>
              </a:ext>
            </a:extLst>
          </p:cNvPr>
          <p:cNvSpPr>
            <a:spLocks noGrp="1"/>
          </p:cNvSpPr>
          <p:nvPr/>
        </p:nvSpPr>
        <p:spPr>
          <a:xfrm>
            <a:off x="609600" y="5219700"/>
            <a:ext cx="6572250" cy="9525"/>
          </a:xfrm>
          <a:prstGeom prst="rect">
            <a:avLst/>
          </a:prstGeom>
          <a:solidFill>
            <a:srgbClr val="526780"/>
          </a:solidFill>
          <a:ln w="0">
            <a:noFill/>
          </a:ln>
        </p:spPr>
        <p:txBody>
          <a:bodyPr/>
          <a:lstStyle/>
          <a:p>
            <a:endParaRPr lang="en-US"/>
          </a:p>
        </p:txBody>
      </p:sp>
      <p:sp>
        <p:nvSpPr>
          <p:cNvPr id="16" name="Rectangle 15">
            <a:extLst>
              <a:ext uri="{FF2B5EF4-FFF2-40B4-BE49-F238E27FC236}">
                <a16:creationId xmlns:a16="http://schemas.microsoft.com/office/drawing/2014/main" id="{13B0A624-24C2-47DF-9DF9-F53A39D5C488}"/>
              </a:ext>
            </a:extLst>
          </p:cNvPr>
          <p:cNvSpPr>
            <a:spLocks noGrp="1"/>
          </p:cNvSpPr>
          <p:nvPr/>
        </p:nvSpPr>
        <p:spPr>
          <a:xfrm>
            <a:off x="609600" y="5438775"/>
            <a:ext cx="1381125" cy="200025"/>
          </a:xfrm>
          <a:prstGeom prst="rect">
            <a:avLst/>
          </a:prstGeom>
          <a:noFill/>
          <a:ln w="0">
            <a:noFill/>
          </a:ln>
        </p:spPr>
        <p:txBody>
          <a:bodyPr wrap="square" lIns="0" tIns="0" rIns="0" bIns="0" anchor="ctr">
            <a:noAutofit/>
          </a:bodyPr>
          <a:lstStyle/>
          <a:p>
            <a:pPr algn="l">
              <a:lnSpc>
                <a:spcPct val="100000"/>
              </a:lnSpc>
              <a:buNone/>
              <a:defRPr sz="975" b="1">
                <a:solidFill>
                  <a:srgbClr val="F5B33B"/>
                </a:solidFill>
                <a:latin typeface="Helvetica Neue"/>
                <a:ea typeface="Helvetica Neue"/>
                <a:cs typeface="Helvetica Neue"/>
              </a:defRPr>
            </a:pPr>
            <a:r>
              <a:rPr sz="975" b="1">
                <a:solidFill>
                  <a:srgbClr val="F5B33B"/>
                </a:solidFill>
                <a:latin typeface="Helvetica Neue"/>
                <a:ea typeface="Helvetica Neue"/>
                <a:cs typeface="Helvetica Neue"/>
              </a:rPr>
              <a:t>TRAVELER</a:t>
            </a:r>
          </a:p>
        </p:txBody>
      </p:sp>
      <p:sp>
        <p:nvSpPr>
          <p:cNvPr id="17" name="Rectangle 16">
            <a:extLst>
              <a:ext uri="{FF2B5EF4-FFF2-40B4-BE49-F238E27FC236}">
                <a16:creationId xmlns:a16="http://schemas.microsoft.com/office/drawing/2014/main" id="{9F67E0C8-9501-4AB3-AFBF-71B7B2D8DAEC}"/>
              </a:ext>
            </a:extLst>
          </p:cNvPr>
          <p:cNvSpPr>
            <a:spLocks noGrp="1"/>
          </p:cNvSpPr>
          <p:nvPr/>
        </p:nvSpPr>
        <p:spPr>
          <a:xfrm>
            <a:off x="609600" y="5695950"/>
            <a:ext cx="2952750" cy="361950"/>
          </a:xfrm>
          <a:prstGeom prst="rect">
            <a:avLst/>
          </a:prstGeom>
          <a:noFill/>
          <a:ln w="0">
            <a:noFill/>
          </a:ln>
        </p:spPr>
        <p:txBody>
          <a:bodyPr wrap="square" lIns="0" tIns="0" rIns="0" bIns="0" anchor="ctr">
            <a:noAutofit/>
          </a:bodyPr>
          <a:lstStyle/>
          <a:p>
            <a:pPr algn="l">
              <a:lnSpc>
                <a:spcPct val="100000"/>
              </a:lnSpc>
              <a:buNone/>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Practical help + local company</a:t>
            </a:r>
          </a:p>
        </p:txBody>
      </p:sp>
      <p:sp>
        <p:nvSpPr>
          <p:cNvPr id="18" name="Rectangle 17">
            <a:extLst>
              <a:ext uri="{FF2B5EF4-FFF2-40B4-BE49-F238E27FC236}">
                <a16:creationId xmlns:a16="http://schemas.microsoft.com/office/drawing/2014/main" id="{DADB2CFD-7CB0-4531-BD05-89E35C87848D}"/>
              </a:ext>
            </a:extLst>
          </p:cNvPr>
          <p:cNvSpPr>
            <a:spLocks noGrp="1"/>
          </p:cNvSpPr>
          <p:nvPr/>
        </p:nvSpPr>
        <p:spPr>
          <a:xfrm>
            <a:off x="3943350" y="5438775"/>
            <a:ext cx="1381125" cy="200025"/>
          </a:xfrm>
          <a:prstGeom prst="rect">
            <a:avLst/>
          </a:prstGeom>
          <a:noFill/>
          <a:ln w="0">
            <a:noFill/>
          </a:ln>
        </p:spPr>
        <p:txBody>
          <a:bodyPr wrap="square" lIns="0" tIns="0" rIns="0" bIns="0" anchor="ctr">
            <a:noAutofit/>
          </a:bodyPr>
          <a:lstStyle/>
          <a:p>
            <a:pPr algn="l">
              <a:lnSpc>
                <a:spcPct val="100000"/>
              </a:lnSpc>
              <a:buNone/>
              <a:defRPr sz="975" b="1">
                <a:solidFill>
                  <a:srgbClr val="F5B33B"/>
                </a:solidFill>
                <a:latin typeface="Helvetica Neue"/>
                <a:ea typeface="Helvetica Neue"/>
                <a:cs typeface="Helvetica Neue"/>
              </a:defRPr>
            </a:pPr>
            <a:r>
              <a:rPr sz="975" b="1">
                <a:solidFill>
                  <a:srgbClr val="F5B33B"/>
                </a:solidFill>
                <a:latin typeface="Helvetica Neue"/>
                <a:ea typeface="Helvetica Neue"/>
                <a:cs typeface="Helvetica Neue"/>
              </a:rPr>
              <a:t>LOCAL HOST</a:t>
            </a:r>
          </a:p>
        </p:txBody>
      </p:sp>
      <p:sp>
        <p:nvSpPr>
          <p:cNvPr id="19" name="Rectangle 18">
            <a:extLst>
              <a:ext uri="{FF2B5EF4-FFF2-40B4-BE49-F238E27FC236}">
                <a16:creationId xmlns:a16="http://schemas.microsoft.com/office/drawing/2014/main" id="{086793DD-9D42-4423-BB62-2FC7923E68D1}"/>
              </a:ext>
            </a:extLst>
          </p:cNvPr>
          <p:cNvSpPr>
            <a:spLocks noGrp="1"/>
          </p:cNvSpPr>
          <p:nvPr/>
        </p:nvSpPr>
        <p:spPr>
          <a:xfrm>
            <a:off x="3943350" y="5695950"/>
            <a:ext cx="3143250" cy="361950"/>
          </a:xfrm>
          <a:prstGeom prst="rect">
            <a:avLst/>
          </a:prstGeom>
          <a:noFill/>
          <a:ln w="0">
            <a:noFill/>
          </a:ln>
        </p:spPr>
        <p:txBody>
          <a:bodyPr wrap="square" lIns="0" tIns="0" rIns="0" bIns="0" anchor="ctr">
            <a:noAutofit/>
          </a:bodyPr>
          <a:lstStyle/>
          <a:p>
            <a:pP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Paid time + </a:t>
            </a:r>
            <a:r>
              <a:rPr lang="en-US" sz="1350">
                <a:solidFill>
                  <a:srgbClr val="FFFFFF"/>
                </a:solidFill>
                <a:latin typeface="Helvetica Neue"/>
                <a:ea typeface="Helvetica Neue"/>
                <a:cs typeface="Helvetica Neue"/>
              </a:rPr>
              <a:t>Language practice</a:t>
            </a:r>
            <a:endParaRPr sz="1350" b="0">
              <a:solidFill>
                <a:srgbClr val="FFFFFF"/>
              </a:solidFill>
              <a:latin typeface="Helvetica Neue"/>
              <a:ea typeface="Helvetica Neue"/>
              <a:cs typeface="Helvetica Neue"/>
            </a:endParaRPr>
          </a:p>
        </p:txBody>
      </p:sp>
      <p:sp>
        <p:nvSpPr>
          <p:cNvPr id="20" name="Rounded Rectangle 19">
            <a:extLst>
              <a:ext uri="{FF2B5EF4-FFF2-40B4-BE49-F238E27FC236}">
                <a16:creationId xmlns:a16="http://schemas.microsoft.com/office/drawing/2014/main" id="{F1E57D2E-1D01-4AC1-825F-F1F183701653}"/>
              </a:ext>
            </a:extLst>
          </p:cNvPr>
          <p:cNvSpPr>
            <a:spLocks noGrp="1"/>
          </p:cNvSpPr>
          <p:nvPr/>
        </p:nvSpPr>
        <p:spPr>
          <a:xfrm>
            <a:off x="8020050" y="266700"/>
            <a:ext cx="3714750" cy="5962650"/>
          </a:xfrm>
          <a:prstGeom prst="roundRect">
            <a:avLst>
              <a:gd name="adj" fmla="val 9231"/>
            </a:avLst>
          </a:prstGeom>
          <a:solidFill>
            <a:srgbClr val="151A22"/>
          </a:solidFill>
          <a:ln w="9525">
            <a:solidFill>
              <a:srgbClr val="151A22"/>
            </a:solidFill>
          </a:ln>
        </p:spPr>
        <p:txBody>
          <a:bodyPr/>
          <a:lstStyle/>
          <a:p>
            <a:endParaRPr lang="en-US"/>
          </a:p>
        </p:txBody>
      </p:sp>
      <p:sp>
        <p:nvSpPr>
          <p:cNvPr id="21" name="Rounded Rectangle 20">
            <a:extLst>
              <a:ext uri="{FF2B5EF4-FFF2-40B4-BE49-F238E27FC236}">
                <a16:creationId xmlns:a16="http://schemas.microsoft.com/office/drawing/2014/main" id="{59FF3C6F-C095-4C38-B272-111636457F4F}"/>
              </a:ext>
            </a:extLst>
          </p:cNvPr>
          <p:cNvSpPr>
            <a:spLocks noGrp="1"/>
          </p:cNvSpPr>
          <p:nvPr/>
        </p:nvSpPr>
        <p:spPr>
          <a:xfrm>
            <a:off x="8143875" y="390525"/>
            <a:ext cx="3467100" cy="5715000"/>
          </a:xfrm>
          <a:prstGeom prst="roundRect">
            <a:avLst>
              <a:gd name="adj" fmla="val 8242"/>
            </a:avLst>
          </a:prstGeom>
          <a:solidFill>
            <a:srgbClr val="FFFFFF"/>
          </a:solidFill>
          <a:ln w="0">
            <a:solidFill>
              <a:srgbClr val="FFFFFF"/>
            </a:solidFill>
          </a:ln>
        </p:spPr>
        <p:txBody>
          <a:bodyPr/>
          <a:lstStyle/>
          <a:p>
            <a:endParaRPr lang="en-US"/>
          </a:p>
        </p:txBody>
      </p:sp>
      <p:sp>
        <p:nvSpPr>
          <p:cNvPr id="22" name="Rounded Rectangle 21">
            <a:extLst>
              <a:ext uri="{FF2B5EF4-FFF2-40B4-BE49-F238E27FC236}">
                <a16:creationId xmlns:a16="http://schemas.microsoft.com/office/drawing/2014/main" id="{2773923E-D221-4EA6-9C2B-8EE4F8074A8A}"/>
              </a:ext>
            </a:extLst>
          </p:cNvPr>
          <p:cNvSpPr>
            <a:spLocks noGrp="1"/>
          </p:cNvSpPr>
          <p:nvPr/>
        </p:nvSpPr>
        <p:spPr>
          <a:xfrm>
            <a:off x="9344025" y="457200"/>
            <a:ext cx="1066800" cy="171450"/>
          </a:xfrm>
          <a:prstGeom prst="roundRect">
            <a:avLst>
              <a:gd name="adj" fmla="val 50000"/>
            </a:avLst>
          </a:prstGeom>
          <a:solidFill>
            <a:srgbClr val="151A22"/>
          </a:solidFill>
          <a:ln w="0">
            <a:solidFill>
              <a:srgbClr val="151A22"/>
            </a:solidFill>
          </a:ln>
        </p:spPr>
        <p:txBody>
          <a:bodyPr/>
          <a:lstStyle/>
          <a:p>
            <a:endParaRPr lang="en-US"/>
          </a:p>
        </p:txBody>
      </p:sp>
      <p:sp>
        <p:nvSpPr>
          <p:cNvPr id="23" name="Rectangle 22">
            <a:extLst>
              <a:ext uri="{FF2B5EF4-FFF2-40B4-BE49-F238E27FC236}">
                <a16:creationId xmlns:a16="http://schemas.microsoft.com/office/drawing/2014/main" id="{6325FF2D-6BDB-4F95-AD4D-3C4AC281302E}"/>
              </a:ext>
            </a:extLst>
          </p:cNvPr>
          <p:cNvSpPr>
            <a:spLocks noGrp="1"/>
          </p:cNvSpPr>
          <p:nvPr/>
        </p:nvSpPr>
        <p:spPr>
          <a:xfrm>
            <a:off x="8324850" y="504825"/>
            <a:ext cx="457200" cy="171450"/>
          </a:xfrm>
          <a:prstGeom prst="rect">
            <a:avLst/>
          </a:prstGeom>
          <a:noFill/>
          <a:ln w="0">
            <a:noFill/>
          </a:ln>
        </p:spPr>
        <p:txBody>
          <a:bodyPr wrap="square" lIns="0" tIns="0" rIns="0" bIns="0" anchor="ctr">
            <a:noAutofit/>
          </a:bodyPr>
          <a:lstStyle/>
          <a:p>
            <a:pPr algn="l">
              <a:lnSpc>
                <a:spcPct val="100000"/>
              </a:lnSpc>
              <a:buNone/>
              <a:defRPr sz="900" b="1">
                <a:solidFill>
                  <a:srgbClr val="20242B"/>
                </a:solidFill>
                <a:latin typeface="Helvetica Neue"/>
                <a:ea typeface="Helvetica Neue"/>
                <a:cs typeface="Helvetica Neue"/>
              </a:defRPr>
            </a:pPr>
            <a:r>
              <a:rPr sz="900" b="1">
                <a:solidFill>
                  <a:srgbClr val="20242B"/>
                </a:solidFill>
                <a:latin typeface="Helvetica Neue"/>
                <a:ea typeface="Helvetica Neue"/>
                <a:cs typeface="Helvetica Neue"/>
              </a:rPr>
              <a:t>9:41</a:t>
            </a:r>
          </a:p>
        </p:txBody>
      </p:sp>
      <p:sp>
        <p:nvSpPr>
          <p:cNvPr id="24" name="Rectangle 23">
            <a:extLst>
              <a:ext uri="{FF2B5EF4-FFF2-40B4-BE49-F238E27FC236}">
                <a16:creationId xmlns:a16="http://schemas.microsoft.com/office/drawing/2014/main" id="{EC509682-D966-4BA6-8F83-4110D265C5CA}"/>
              </a:ext>
            </a:extLst>
          </p:cNvPr>
          <p:cNvSpPr>
            <a:spLocks noGrp="1"/>
          </p:cNvSpPr>
          <p:nvPr/>
        </p:nvSpPr>
        <p:spPr>
          <a:xfrm>
            <a:off x="8324850" y="790575"/>
            <a:ext cx="1809750" cy="381000"/>
          </a:xfrm>
          <a:prstGeom prst="rect">
            <a:avLst/>
          </a:prstGeom>
          <a:noFill/>
          <a:ln w="0">
            <a:noFill/>
          </a:ln>
        </p:spPr>
        <p:txBody>
          <a:bodyPr wrap="square" lIns="0" tIns="0" rIns="0" bIns="0" anchor="ctr">
            <a:noAutofit/>
          </a:bodyPr>
          <a:lstStyle/>
          <a:p>
            <a:pPr algn="l">
              <a:lnSpc>
                <a:spcPct val="100000"/>
              </a:lnSpc>
              <a:buNone/>
              <a:defRPr sz="1800" b="1">
                <a:solidFill>
                  <a:srgbClr val="E84632"/>
                </a:solidFill>
                <a:latin typeface="Helvetica Neue"/>
                <a:ea typeface="Helvetica Neue"/>
                <a:cs typeface="Helvetica Neue"/>
              </a:defRPr>
            </a:pPr>
            <a:r>
              <a:rPr sz="1800" b="1">
                <a:solidFill>
                  <a:srgbClr val="E84632"/>
                </a:solidFill>
                <a:latin typeface="Helvetica Neue"/>
                <a:ea typeface="Helvetica Neue"/>
                <a:cs typeface="Helvetica Neue"/>
              </a:rPr>
              <a:t>PengPal</a:t>
            </a:r>
          </a:p>
        </p:txBody>
      </p:sp>
      <p:sp>
        <p:nvSpPr>
          <p:cNvPr id="25" name="Rectangle 24">
            <a:extLst>
              <a:ext uri="{FF2B5EF4-FFF2-40B4-BE49-F238E27FC236}">
                <a16:creationId xmlns:a16="http://schemas.microsoft.com/office/drawing/2014/main" id="{4BE0F62A-1DB7-4881-B9DE-8E49A6CA14B9}"/>
              </a:ext>
            </a:extLst>
          </p:cNvPr>
          <p:cNvSpPr>
            <a:spLocks noGrp="1"/>
          </p:cNvSpPr>
          <p:nvPr/>
        </p:nvSpPr>
        <p:spPr>
          <a:xfrm>
            <a:off x="8324850" y="1257300"/>
            <a:ext cx="2667000" cy="180975"/>
          </a:xfrm>
          <a:prstGeom prst="rect">
            <a:avLst/>
          </a:prstGeom>
          <a:noFill/>
          <a:ln w="0">
            <a:noFill/>
          </a:ln>
        </p:spPr>
        <p:txBody>
          <a:bodyPr wrap="square" lIns="0" tIns="0" rIns="0" bIns="0" anchor="ctr">
            <a:noAutofit/>
          </a:bodyPr>
          <a:lstStyle/>
          <a:p>
            <a:pPr algn="l">
              <a:lnSpc>
                <a:spcPct val="100000"/>
              </a:lnSpc>
              <a:buNone/>
              <a:defRPr sz="900" b="1">
                <a:solidFill>
                  <a:srgbClr val="65718A"/>
                </a:solidFill>
                <a:latin typeface="Helvetica Neue"/>
                <a:ea typeface="Helvetica Neue"/>
                <a:cs typeface="Helvetica Neue"/>
              </a:defRPr>
            </a:pPr>
            <a:r>
              <a:rPr sz="900" b="1">
                <a:solidFill>
                  <a:srgbClr val="65718A"/>
                </a:solidFill>
                <a:latin typeface="Helvetica Neue"/>
                <a:ea typeface="Helvetica Neue"/>
                <a:cs typeface="Helvetica Neue"/>
              </a:rPr>
              <a:t>CHONGQING  ·  CHINA</a:t>
            </a:r>
          </a:p>
        </p:txBody>
      </p:sp>
      <p:sp>
        <p:nvSpPr>
          <p:cNvPr id="26" name="Rectangle 25">
            <a:extLst>
              <a:ext uri="{FF2B5EF4-FFF2-40B4-BE49-F238E27FC236}">
                <a16:creationId xmlns:a16="http://schemas.microsoft.com/office/drawing/2014/main" id="{BAB5C55C-0230-4F99-91D7-F6F6785E949D}"/>
              </a:ext>
            </a:extLst>
          </p:cNvPr>
          <p:cNvSpPr>
            <a:spLocks noGrp="1"/>
          </p:cNvSpPr>
          <p:nvPr/>
        </p:nvSpPr>
        <p:spPr>
          <a:xfrm>
            <a:off x="8324850" y="1524000"/>
            <a:ext cx="2952750" cy="304800"/>
          </a:xfrm>
          <a:prstGeom prst="rect">
            <a:avLst/>
          </a:prstGeom>
          <a:noFill/>
          <a:ln w="0">
            <a:noFill/>
          </a:ln>
        </p:spPr>
        <p:txBody>
          <a:bodyPr wrap="square" lIns="0" tIns="0" rIns="0" bIns="0" anchor="ctr">
            <a:noAutofit/>
          </a:bodyPr>
          <a:lstStyle/>
          <a:p>
            <a:pPr algn="l">
              <a:lnSpc>
                <a:spcPct val="100000"/>
              </a:lnSpc>
              <a:buNone/>
              <a:defRPr sz="1650" b="1">
                <a:solidFill>
                  <a:srgbClr val="18345A"/>
                </a:solidFill>
                <a:latin typeface="Helvetica Neue"/>
                <a:ea typeface="Helvetica Neue"/>
                <a:cs typeface="Helvetica Neue"/>
              </a:defRPr>
            </a:pPr>
            <a:r>
              <a:rPr sz="1650" b="1">
                <a:solidFill>
                  <a:srgbClr val="18345A"/>
                </a:solidFill>
                <a:latin typeface="Helvetica Neue"/>
                <a:ea typeface="Helvetica Neue"/>
                <a:cs typeface="Helvetica Neue"/>
              </a:rPr>
              <a:t>Meet a local host</a:t>
            </a:r>
          </a:p>
        </p:txBody>
      </p:sp>
      <p:sp>
        <p:nvSpPr>
          <p:cNvPr id="27" name="Rectangle 26">
            <a:extLst>
              <a:ext uri="{FF2B5EF4-FFF2-40B4-BE49-F238E27FC236}">
                <a16:creationId xmlns:a16="http://schemas.microsoft.com/office/drawing/2014/main" id="{992CC60C-A90C-432C-84CC-FE12DF595636}"/>
              </a:ext>
            </a:extLst>
          </p:cNvPr>
          <p:cNvSpPr>
            <a:spLocks noGrp="1"/>
          </p:cNvSpPr>
          <p:nvPr/>
        </p:nvSpPr>
        <p:spPr>
          <a:xfrm>
            <a:off x="8324850" y="1876425"/>
            <a:ext cx="2571750" cy="171450"/>
          </a:xfrm>
          <a:prstGeom prst="rect">
            <a:avLst/>
          </a:prstGeom>
          <a:noFill/>
          <a:ln w="0">
            <a:noFill/>
          </a:ln>
        </p:spPr>
        <p:txBody>
          <a:bodyPr wrap="square" lIns="0" tIns="0" rIns="0" bIns="0" anchor="ctr">
            <a:noAutofit/>
          </a:bodyPr>
          <a:lstStyle/>
          <a:p>
            <a:pPr algn="l">
              <a:lnSpc>
                <a:spcPct val="100000"/>
              </a:lnSpc>
              <a:buNone/>
              <a:defRPr sz="825" b="1">
                <a:solidFill>
                  <a:srgbClr val="E84632"/>
                </a:solidFill>
                <a:latin typeface="Helvetica Neue"/>
                <a:ea typeface="Helvetica Neue"/>
                <a:cs typeface="Helvetica Neue"/>
              </a:defRPr>
            </a:pPr>
            <a:r>
              <a:rPr sz="825" b="1">
                <a:solidFill>
                  <a:srgbClr val="E84632"/>
                </a:solidFill>
                <a:latin typeface="Helvetica Neue"/>
                <a:ea typeface="Helvetica Neue"/>
                <a:cs typeface="Helvetica Neue"/>
              </a:rPr>
              <a:t>SAMPLE PROFILES</a:t>
            </a:r>
          </a:p>
        </p:txBody>
      </p:sp>
      <p:sp>
        <p:nvSpPr>
          <p:cNvPr id="28" name="Rounded Rectangle 27">
            <a:extLst>
              <a:ext uri="{FF2B5EF4-FFF2-40B4-BE49-F238E27FC236}">
                <a16:creationId xmlns:a16="http://schemas.microsoft.com/office/drawing/2014/main" id="{7640EE36-2F29-4D47-B53F-A0A864A86124}"/>
              </a:ext>
            </a:extLst>
          </p:cNvPr>
          <p:cNvSpPr>
            <a:spLocks noGrp="1"/>
          </p:cNvSpPr>
          <p:nvPr/>
        </p:nvSpPr>
        <p:spPr>
          <a:xfrm>
            <a:off x="8305800" y="2114550"/>
            <a:ext cx="3143250" cy="400050"/>
          </a:xfrm>
          <a:prstGeom prst="roundRect">
            <a:avLst>
              <a:gd name="adj" fmla="val 28571"/>
            </a:avLst>
          </a:prstGeom>
          <a:solidFill>
            <a:srgbClr val="F2F1ED"/>
          </a:solidFill>
          <a:ln w="9525">
            <a:solidFill>
              <a:srgbClr val="E5E1D9"/>
            </a:solidFill>
          </a:ln>
        </p:spPr>
        <p:txBody>
          <a:bodyPr/>
          <a:lstStyle/>
          <a:p>
            <a:endParaRPr lang="en-US"/>
          </a:p>
        </p:txBody>
      </p:sp>
      <p:sp>
        <p:nvSpPr>
          <p:cNvPr id="29" name="Rectangle 28">
            <a:extLst>
              <a:ext uri="{FF2B5EF4-FFF2-40B4-BE49-F238E27FC236}">
                <a16:creationId xmlns:a16="http://schemas.microsoft.com/office/drawing/2014/main" id="{146A0CC3-16B9-46E8-9BB4-DE94054DC265}"/>
              </a:ext>
            </a:extLst>
          </p:cNvPr>
          <p:cNvSpPr>
            <a:spLocks noGrp="1"/>
          </p:cNvSpPr>
          <p:nvPr/>
        </p:nvSpPr>
        <p:spPr>
          <a:xfrm>
            <a:off x="8439150" y="2181225"/>
            <a:ext cx="2857500" cy="257175"/>
          </a:xfrm>
          <a:prstGeom prst="rect">
            <a:avLst/>
          </a:prstGeom>
          <a:noFill/>
          <a:ln w="0">
            <a:noFill/>
          </a:ln>
        </p:spPr>
        <p:txBody>
          <a:bodyPr wrap="square" lIns="0" tIns="0" rIns="0" bIns="0" anchor="ctr">
            <a:noAutofit/>
          </a:bodyPr>
          <a:lstStyle/>
          <a:p>
            <a:pPr algn="l">
              <a:lnSpc>
                <a:spcPct val="100000"/>
              </a:lnSpc>
              <a:buNone/>
              <a:defRPr sz="1050" b="0">
                <a:solidFill>
                  <a:srgbClr val="65718A"/>
                </a:solidFill>
                <a:latin typeface="Helvetica Neue"/>
                <a:ea typeface="Helvetica Neue"/>
                <a:cs typeface="Helvetica Neue"/>
              </a:defRPr>
            </a:pPr>
            <a:r>
              <a:rPr sz="1050" b="0">
                <a:solidFill>
                  <a:srgbClr val="65718A"/>
                </a:solidFill>
                <a:latin typeface="Helvetica Neue"/>
                <a:ea typeface="Helvetica Neue"/>
                <a:cs typeface="Helvetica Neue"/>
              </a:rPr>
              <a:t>Search food or neighborhood</a:t>
            </a:r>
          </a:p>
        </p:txBody>
      </p:sp>
      <p:sp>
        <p:nvSpPr>
          <p:cNvPr id="30" name="Rounded Rectangle 29">
            <a:extLst>
              <a:ext uri="{FF2B5EF4-FFF2-40B4-BE49-F238E27FC236}">
                <a16:creationId xmlns:a16="http://schemas.microsoft.com/office/drawing/2014/main" id="{599C4591-D49B-4F3E-9DB4-C602C7AD36EF}"/>
              </a:ext>
            </a:extLst>
          </p:cNvPr>
          <p:cNvSpPr>
            <a:spLocks noGrp="1"/>
          </p:cNvSpPr>
          <p:nvPr/>
        </p:nvSpPr>
        <p:spPr>
          <a:xfrm>
            <a:off x="8305800" y="2657475"/>
            <a:ext cx="3143250" cy="1104900"/>
          </a:xfrm>
          <a:prstGeom prst="roundRect">
            <a:avLst>
              <a:gd name="adj" fmla="val 12069"/>
            </a:avLst>
          </a:prstGeom>
          <a:solidFill>
            <a:srgbClr val="FFFFFF"/>
          </a:solidFill>
          <a:ln w="9525">
            <a:solidFill>
              <a:srgbClr val="E5E1D9"/>
            </a:solidFill>
          </a:ln>
        </p:spPr>
        <p:txBody>
          <a:bodyPr/>
          <a:lstStyle/>
          <a:p>
            <a:endParaRPr lang="en-US"/>
          </a:p>
        </p:txBody>
      </p:sp>
      <p:sp>
        <p:nvSpPr>
          <p:cNvPr id="31" name="Oval 30">
            <a:extLst>
              <a:ext uri="{FF2B5EF4-FFF2-40B4-BE49-F238E27FC236}">
                <a16:creationId xmlns:a16="http://schemas.microsoft.com/office/drawing/2014/main" id="{9E82F153-8AB7-4F68-8E67-4C48C55B4FC9}"/>
              </a:ext>
            </a:extLst>
          </p:cNvPr>
          <p:cNvSpPr>
            <a:spLocks noGrp="1"/>
          </p:cNvSpPr>
          <p:nvPr/>
        </p:nvSpPr>
        <p:spPr>
          <a:xfrm>
            <a:off x="8439150" y="2819400"/>
            <a:ext cx="438150" cy="438150"/>
          </a:xfrm>
          <a:prstGeom prst="ellipse">
            <a:avLst/>
          </a:prstGeom>
          <a:solidFill>
            <a:srgbClr val="FCE5D8"/>
          </a:solidFill>
          <a:ln w="0">
            <a:noFill/>
          </a:ln>
        </p:spPr>
        <p:txBody>
          <a:bodyPr/>
          <a:lstStyle/>
          <a:p>
            <a:endParaRPr lang="en-US"/>
          </a:p>
        </p:txBody>
      </p:sp>
      <p:sp>
        <p:nvSpPr>
          <p:cNvPr id="32" name="Rectangle 31">
            <a:extLst>
              <a:ext uri="{FF2B5EF4-FFF2-40B4-BE49-F238E27FC236}">
                <a16:creationId xmlns:a16="http://schemas.microsoft.com/office/drawing/2014/main" id="{76945F4F-22C6-4680-A826-564D8D2E80E2}"/>
              </a:ext>
            </a:extLst>
          </p:cNvPr>
          <p:cNvSpPr>
            <a:spLocks noGrp="1"/>
          </p:cNvSpPr>
          <p:nvPr/>
        </p:nvSpPr>
        <p:spPr>
          <a:xfrm>
            <a:off x="8439150" y="2819400"/>
            <a:ext cx="438150" cy="438150"/>
          </a:xfrm>
          <a:prstGeom prst="rect">
            <a:avLst/>
          </a:prstGeom>
          <a:noFill/>
          <a:ln w="0">
            <a:noFill/>
          </a:ln>
        </p:spPr>
        <p:txBody>
          <a:bodyPr wrap="square" lIns="0" tIns="0" rIns="0" bIns="0" anchor="ctr">
            <a:noAutofit/>
          </a:bodyPr>
          <a:lstStyle/>
          <a:p>
            <a:pPr algn="ctr">
              <a:lnSpc>
                <a:spcPct val="100000"/>
              </a:lnSpc>
              <a:buNone/>
              <a:defRPr sz="1425" b="1">
                <a:solidFill>
                  <a:srgbClr val="E84632"/>
                </a:solidFill>
                <a:latin typeface="Helvetica Neue"/>
                <a:ea typeface="Helvetica Neue"/>
                <a:cs typeface="Helvetica Neue"/>
              </a:defRPr>
            </a:pPr>
            <a:r>
              <a:rPr sz="1425" b="1">
                <a:solidFill>
                  <a:srgbClr val="E84632"/>
                </a:solidFill>
                <a:latin typeface="Helvetica Neue"/>
                <a:ea typeface="Helvetica Neue"/>
                <a:cs typeface="Helvetica Neue"/>
              </a:rPr>
              <a:t>L</a:t>
            </a:r>
          </a:p>
        </p:txBody>
      </p:sp>
      <p:sp>
        <p:nvSpPr>
          <p:cNvPr id="33" name="Rectangle 32">
            <a:extLst>
              <a:ext uri="{FF2B5EF4-FFF2-40B4-BE49-F238E27FC236}">
                <a16:creationId xmlns:a16="http://schemas.microsoft.com/office/drawing/2014/main" id="{307C7653-E4A8-433F-BFB9-4E988E44F3FD}"/>
              </a:ext>
            </a:extLst>
          </p:cNvPr>
          <p:cNvSpPr>
            <a:spLocks noGrp="1"/>
          </p:cNvSpPr>
          <p:nvPr/>
        </p:nvSpPr>
        <p:spPr>
          <a:xfrm>
            <a:off x="9001125" y="2771775"/>
            <a:ext cx="2266950" cy="247650"/>
          </a:xfrm>
          <a:prstGeom prst="rect">
            <a:avLst/>
          </a:prstGeom>
          <a:noFill/>
          <a:ln w="0">
            <a:noFill/>
          </a:ln>
        </p:spPr>
        <p:txBody>
          <a:bodyPr wrap="square" lIns="0" tIns="0" rIns="0" bIns="0" anchor="ctr">
            <a:noAutofit/>
          </a:bodyPr>
          <a:lstStyle/>
          <a:p>
            <a:pPr algn="l">
              <a:lnSpc>
                <a:spcPct val="100000"/>
              </a:lnSpc>
              <a:buNone/>
              <a:defRPr sz="1200" b="1">
                <a:solidFill>
                  <a:srgbClr val="18345A"/>
                </a:solidFill>
                <a:latin typeface="Helvetica Neue"/>
                <a:ea typeface="Helvetica Neue"/>
                <a:cs typeface="Helvetica Neue"/>
              </a:defRPr>
            </a:pPr>
            <a:r>
              <a:rPr sz="1200" b="1">
                <a:solidFill>
                  <a:srgbClr val="18345A"/>
                </a:solidFill>
                <a:latin typeface="Helvetica Neue"/>
                <a:ea typeface="Helvetica Neue"/>
                <a:cs typeface="Helvetica Neue"/>
              </a:rPr>
              <a:t>Lin · Local host</a:t>
            </a:r>
          </a:p>
        </p:txBody>
      </p:sp>
      <p:sp>
        <p:nvSpPr>
          <p:cNvPr id="34" name="Rectangle 33">
            <a:extLst>
              <a:ext uri="{FF2B5EF4-FFF2-40B4-BE49-F238E27FC236}">
                <a16:creationId xmlns:a16="http://schemas.microsoft.com/office/drawing/2014/main" id="{53E6D766-B19A-4C17-BFE2-A4F5456E4051}"/>
              </a:ext>
            </a:extLst>
          </p:cNvPr>
          <p:cNvSpPr>
            <a:spLocks noGrp="1"/>
          </p:cNvSpPr>
          <p:nvPr/>
        </p:nvSpPr>
        <p:spPr>
          <a:xfrm>
            <a:off x="9001125" y="3057525"/>
            <a:ext cx="2266950" cy="228600"/>
          </a:xfrm>
          <a:prstGeom prst="rect">
            <a:avLst/>
          </a:prstGeom>
          <a:noFill/>
          <a:ln w="0">
            <a:noFill/>
          </a:ln>
        </p:spPr>
        <p:txBody>
          <a:bodyPr wrap="square" lIns="0" tIns="0" rIns="0" bIns="0" anchor="ctr">
            <a:noAutofit/>
          </a:bodyPr>
          <a:lstStyle/>
          <a:p>
            <a:pPr algn="l">
              <a:lnSpc>
                <a:spcPct val="100000"/>
              </a:lnSpc>
              <a:buNone/>
              <a:defRPr sz="1050" b="0">
                <a:solidFill>
                  <a:srgbClr val="18345A"/>
                </a:solidFill>
                <a:latin typeface="Helvetica Neue"/>
                <a:ea typeface="Helvetica Neue"/>
                <a:cs typeface="Helvetica Neue"/>
              </a:defRPr>
            </a:pPr>
            <a:r>
              <a:rPr sz="1050" b="0">
                <a:solidFill>
                  <a:srgbClr val="18345A"/>
                </a:solidFill>
                <a:latin typeface="Helvetica Neue"/>
                <a:ea typeface="Helvetica Neue"/>
                <a:cs typeface="Helvetica Neue"/>
              </a:rPr>
              <a:t>Hongya Cave · city history</a:t>
            </a:r>
          </a:p>
        </p:txBody>
      </p:sp>
      <p:sp>
        <p:nvSpPr>
          <p:cNvPr id="35" name="Rectangle 34">
            <a:extLst>
              <a:ext uri="{FF2B5EF4-FFF2-40B4-BE49-F238E27FC236}">
                <a16:creationId xmlns:a16="http://schemas.microsoft.com/office/drawing/2014/main" id="{B7F3ACE3-C279-40AB-BB9F-2D347B871335}"/>
              </a:ext>
            </a:extLst>
          </p:cNvPr>
          <p:cNvSpPr>
            <a:spLocks noGrp="1"/>
          </p:cNvSpPr>
          <p:nvPr/>
        </p:nvSpPr>
        <p:spPr>
          <a:xfrm>
            <a:off x="9001125" y="3333750"/>
            <a:ext cx="2266950" cy="209550"/>
          </a:xfrm>
          <a:prstGeom prst="rect">
            <a:avLst/>
          </a:prstGeom>
          <a:noFill/>
          <a:ln w="0">
            <a:noFill/>
          </a:ln>
        </p:spPr>
        <p:txBody>
          <a:bodyPr wrap="square" lIns="0" tIns="0" rIns="0" bIns="0" anchor="ctr">
            <a:noAutofit/>
          </a:bodyPr>
          <a:lstStyle/>
          <a:p>
            <a:pPr algn="l">
              <a:lnSpc>
                <a:spcPct val="100000"/>
              </a:lnSpc>
              <a:buNone/>
              <a:defRPr sz="900" b="0">
                <a:solidFill>
                  <a:srgbClr val="65718A"/>
                </a:solidFill>
                <a:latin typeface="Helvetica Neue"/>
                <a:ea typeface="Helvetica Neue"/>
                <a:cs typeface="Helvetica Neue"/>
              </a:defRPr>
            </a:pPr>
            <a:r>
              <a:rPr sz="900" b="0">
                <a:solidFill>
                  <a:srgbClr val="65718A"/>
                </a:solidFill>
                <a:latin typeface="Helvetica Neue"/>
                <a:ea typeface="Helvetica Neue"/>
                <a:cs typeface="Helvetica Neue"/>
              </a:rPr>
              <a:t>English + Mandarin</a:t>
            </a:r>
          </a:p>
        </p:txBody>
      </p:sp>
      <p:sp>
        <p:nvSpPr>
          <p:cNvPr id="36" name="Rounded Rectangle 35">
            <a:extLst>
              <a:ext uri="{FF2B5EF4-FFF2-40B4-BE49-F238E27FC236}">
                <a16:creationId xmlns:a16="http://schemas.microsoft.com/office/drawing/2014/main" id="{7239B84B-1503-486A-9C34-29415EABFF45}"/>
              </a:ext>
            </a:extLst>
          </p:cNvPr>
          <p:cNvSpPr>
            <a:spLocks noGrp="1"/>
          </p:cNvSpPr>
          <p:nvPr/>
        </p:nvSpPr>
        <p:spPr>
          <a:xfrm>
            <a:off x="8305800" y="3886200"/>
            <a:ext cx="3143250" cy="1104900"/>
          </a:xfrm>
          <a:prstGeom prst="roundRect">
            <a:avLst>
              <a:gd name="adj" fmla="val 12069"/>
            </a:avLst>
          </a:prstGeom>
          <a:solidFill>
            <a:srgbClr val="FFFFFF"/>
          </a:solidFill>
          <a:ln w="9525">
            <a:solidFill>
              <a:srgbClr val="E5E1D9"/>
            </a:solidFill>
          </a:ln>
        </p:spPr>
        <p:txBody>
          <a:bodyPr/>
          <a:lstStyle/>
          <a:p>
            <a:endParaRPr lang="en-US"/>
          </a:p>
        </p:txBody>
      </p:sp>
      <p:sp>
        <p:nvSpPr>
          <p:cNvPr id="37" name="Oval 36">
            <a:extLst>
              <a:ext uri="{FF2B5EF4-FFF2-40B4-BE49-F238E27FC236}">
                <a16:creationId xmlns:a16="http://schemas.microsoft.com/office/drawing/2014/main" id="{3C7924A9-B8C3-4B50-B0BA-78C92E068170}"/>
              </a:ext>
            </a:extLst>
          </p:cNvPr>
          <p:cNvSpPr>
            <a:spLocks noGrp="1"/>
          </p:cNvSpPr>
          <p:nvPr/>
        </p:nvSpPr>
        <p:spPr>
          <a:xfrm>
            <a:off x="8439150" y="4048125"/>
            <a:ext cx="438150" cy="438150"/>
          </a:xfrm>
          <a:prstGeom prst="ellipse">
            <a:avLst/>
          </a:prstGeom>
          <a:solidFill>
            <a:srgbClr val="FCE9B8"/>
          </a:solidFill>
          <a:ln w="0">
            <a:noFill/>
          </a:ln>
        </p:spPr>
        <p:txBody>
          <a:bodyPr/>
          <a:lstStyle/>
          <a:p>
            <a:endParaRPr lang="en-US"/>
          </a:p>
        </p:txBody>
      </p:sp>
      <p:sp>
        <p:nvSpPr>
          <p:cNvPr id="38" name="Rectangle 37">
            <a:extLst>
              <a:ext uri="{FF2B5EF4-FFF2-40B4-BE49-F238E27FC236}">
                <a16:creationId xmlns:a16="http://schemas.microsoft.com/office/drawing/2014/main" id="{F05FCC5F-BD38-4BF5-A4F4-F16AE482431B}"/>
              </a:ext>
            </a:extLst>
          </p:cNvPr>
          <p:cNvSpPr>
            <a:spLocks noGrp="1"/>
          </p:cNvSpPr>
          <p:nvPr/>
        </p:nvSpPr>
        <p:spPr>
          <a:xfrm>
            <a:off x="8439150" y="4048125"/>
            <a:ext cx="438150" cy="438150"/>
          </a:xfrm>
          <a:prstGeom prst="rect">
            <a:avLst/>
          </a:prstGeom>
          <a:noFill/>
          <a:ln w="0">
            <a:noFill/>
          </a:ln>
        </p:spPr>
        <p:txBody>
          <a:bodyPr wrap="square" lIns="0" tIns="0" rIns="0" bIns="0" anchor="ctr">
            <a:noAutofit/>
          </a:bodyPr>
          <a:lstStyle/>
          <a:p>
            <a:pPr algn="ctr">
              <a:lnSpc>
                <a:spcPct val="100000"/>
              </a:lnSpc>
              <a:buNone/>
              <a:defRPr sz="1425" b="1">
                <a:solidFill>
                  <a:srgbClr val="996600"/>
                </a:solidFill>
                <a:latin typeface="Helvetica Neue"/>
                <a:ea typeface="Helvetica Neue"/>
                <a:cs typeface="Helvetica Neue"/>
              </a:defRPr>
            </a:pPr>
            <a:r>
              <a:rPr sz="1425" b="1">
                <a:solidFill>
                  <a:srgbClr val="996600"/>
                </a:solidFill>
                <a:latin typeface="Helvetica Neue"/>
                <a:ea typeface="Helvetica Neue"/>
                <a:cs typeface="Helvetica Neue"/>
              </a:rPr>
              <a:t>Q</a:t>
            </a:r>
          </a:p>
        </p:txBody>
      </p:sp>
      <p:sp>
        <p:nvSpPr>
          <p:cNvPr id="39" name="Rectangle 38">
            <a:extLst>
              <a:ext uri="{FF2B5EF4-FFF2-40B4-BE49-F238E27FC236}">
                <a16:creationId xmlns:a16="http://schemas.microsoft.com/office/drawing/2014/main" id="{488D4551-91E4-4ED6-91A6-B9C7D621C981}"/>
              </a:ext>
            </a:extLst>
          </p:cNvPr>
          <p:cNvSpPr>
            <a:spLocks noGrp="1"/>
          </p:cNvSpPr>
          <p:nvPr/>
        </p:nvSpPr>
        <p:spPr>
          <a:xfrm>
            <a:off x="9001125" y="4000500"/>
            <a:ext cx="2266950" cy="247650"/>
          </a:xfrm>
          <a:prstGeom prst="rect">
            <a:avLst/>
          </a:prstGeom>
          <a:noFill/>
          <a:ln w="0">
            <a:noFill/>
          </a:ln>
        </p:spPr>
        <p:txBody>
          <a:bodyPr wrap="square" lIns="0" tIns="0" rIns="0" bIns="0" anchor="ctr">
            <a:noAutofit/>
          </a:bodyPr>
          <a:lstStyle/>
          <a:p>
            <a:pPr algn="l">
              <a:lnSpc>
                <a:spcPct val="100000"/>
              </a:lnSpc>
              <a:buNone/>
              <a:defRPr sz="1200" b="1">
                <a:solidFill>
                  <a:srgbClr val="18345A"/>
                </a:solidFill>
                <a:latin typeface="Helvetica Neue"/>
                <a:ea typeface="Helvetica Neue"/>
                <a:cs typeface="Helvetica Neue"/>
              </a:defRPr>
            </a:pPr>
            <a:r>
              <a:rPr sz="1200" b="1">
                <a:solidFill>
                  <a:srgbClr val="18345A"/>
                </a:solidFill>
                <a:latin typeface="Helvetica Neue"/>
                <a:ea typeface="Helvetica Neue"/>
                <a:cs typeface="Helvetica Neue"/>
              </a:rPr>
              <a:t>Qin · Local host</a:t>
            </a:r>
          </a:p>
        </p:txBody>
      </p:sp>
      <p:sp>
        <p:nvSpPr>
          <p:cNvPr id="40" name="Rectangle 39">
            <a:extLst>
              <a:ext uri="{FF2B5EF4-FFF2-40B4-BE49-F238E27FC236}">
                <a16:creationId xmlns:a16="http://schemas.microsoft.com/office/drawing/2014/main" id="{F7236A85-FE1C-4252-80DE-43A25B86F702}"/>
              </a:ext>
            </a:extLst>
          </p:cNvPr>
          <p:cNvSpPr>
            <a:spLocks noGrp="1"/>
          </p:cNvSpPr>
          <p:nvPr/>
        </p:nvSpPr>
        <p:spPr>
          <a:xfrm>
            <a:off x="9001125" y="4286250"/>
            <a:ext cx="2266950" cy="228600"/>
          </a:xfrm>
          <a:prstGeom prst="rect">
            <a:avLst/>
          </a:prstGeom>
          <a:noFill/>
          <a:ln w="0">
            <a:noFill/>
          </a:ln>
        </p:spPr>
        <p:txBody>
          <a:bodyPr wrap="square" lIns="0" tIns="0" rIns="0" bIns="0" anchor="ctr">
            <a:noAutofit/>
          </a:bodyPr>
          <a:lstStyle/>
          <a:p>
            <a:pPr algn="l">
              <a:lnSpc>
                <a:spcPct val="100000"/>
              </a:lnSpc>
              <a:buNone/>
              <a:defRPr sz="1050" b="0">
                <a:solidFill>
                  <a:srgbClr val="18345A"/>
                </a:solidFill>
                <a:latin typeface="Helvetica Neue"/>
                <a:ea typeface="Helvetica Neue"/>
                <a:cs typeface="Helvetica Neue"/>
              </a:defRPr>
            </a:pPr>
            <a:r>
              <a:rPr sz="1050" b="0">
                <a:solidFill>
                  <a:srgbClr val="18345A"/>
                </a:solidFill>
                <a:latin typeface="Helvetica Neue"/>
                <a:ea typeface="Helvetica Neue"/>
                <a:cs typeface="Helvetica Neue"/>
              </a:rPr>
              <a:t>Shancheng lanes · food &amp; views</a:t>
            </a:r>
          </a:p>
        </p:txBody>
      </p:sp>
      <p:sp>
        <p:nvSpPr>
          <p:cNvPr id="41" name="Rectangle 40">
            <a:extLst>
              <a:ext uri="{FF2B5EF4-FFF2-40B4-BE49-F238E27FC236}">
                <a16:creationId xmlns:a16="http://schemas.microsoft.com/office/drawing/2014/main" id="{91DBE45C-043A-4B50-BF6B-FF9E017CF62D}"/>
              </a:ext>
            </a:extLst>
          </p:cNvPr>
          <p:cNvSpPr>
            <a:spLocks noGrp="1"/>
          </p:cNvSpPr>
          <p:nvPr/>
        </p:nvSpPr>
        <p:spPr>
          <a:xfrm>
            <a:off x="9001125" y="4562475"/>
            <a:ext cx="2266950" cy="209550"/>
          </a:xfrm>
          <a:prstGeom prst="rect">
            <a:avLst/>
          </a:prstGeom>
          <a:noFill/>
          <a:ln w="0">
            <a:noFill/>
          </a:ln>
        </p:spPr>
        <p:txBody>
          <a:bodyPr wrap="square" lIns="0" tIns="0" rIns="0" bIns="0" anchor="ctr">
            <a:noAutofit/>
          </a:bodyPr>
          <a:lstStyle/>
          <a:p>
            <a:pPr algn="l">
              <a:lnSpc>
                <a:spcPct val="100000"/>
              </a:lnSpc>
              <a:buNone/>
              <a:defRPr sz="900" b="0">
                <a:solidFill>
                  <a:srgbClr val="65718A"/>
                </a:solidFill>
                <a:latin typeface="Helvetica Neue"/>
                <a:ea typeface="Helvetica Neue"/>
                <a:cs typeface="Helvetica Neue"/>
              </a:defRPr>
            </a:pPr>
            <a:r>
              <a:rPr sz="900" b="0">
                <a:solidFill>
                  <a:srgbClr val="65718A"/>
                </a:solidFill>
                <a:latin typeface="Helvetica Neue"/>
                <a:ea typeface="Helvetica Neue"/>
                <a:cs typeface="Helvetica Neue"/>
              </a:rPr>
              <a:t>English + Mandarin</a:t>
            </a:r>
          </a:p>
        </p:txBody>
      </p:sp>
      <p:sp>
        <p:nvSpPr>
          <p:cNvPr id="42" name="Rounded Rectangle 41">
            <a:extLst>
              <a:ext uri="{FF2B5EF4-FFF2-40B4-BE49-F238E27FC236}">
                <a16:creationId xmlns:a16="http://schemas.microsoft.com/office/drawing/2014/main" id="{4901E687-01A2-423C-9946-73AC6758EE3F}"/>
              </a:ext>
            </a:extLst>
          </p:cNvPr>
          <p:cNvSpPr>
            <a:spLocks noGrp="1"/>
          </p:cNvSpPr>
          <p:nvPr/>
        </p:nvSpPr>
        <p:spPr>
          <a:xfrm>
            <a:off x="8305800" y="5143500"/>
            <a:ext cx="3143250" cy="419100"/>
          </a:xfrm>
          <a:prstGeom prst="roundRect">
            <a:avLst>
              <a:gd name="adj" fmla="val 29545"/>
            </a:avLst>
          </a:prstGeom>
          <a:solidFill>
            <a:srgbClr val="E84632"/>
          </a:solidFill>
          <a:ln w="0">
            <a:solidFill>
              <a:srgbClr val="E84632"/>
            </a:solidFill>
          </a:ln>
        </p:spPr>
        <p:txBody>
          <a:bodyPr/>
          <a:lstStyle/>
          <a:p>
            <a:endParaRPr lang="en-US"/>
          </a:p>
        </p:txBody>
      </p:sp>
      <p:sp>
        <p:nvSpPr>
          <p:cNvPr id="43" name="Rectangle 42">
            <a:extLst>
              <a:ext uri="{FF2B5EF4-FFF2-40B4-BE49-F238E27FC236}">
                <a16:creationId xmlns:a16="http://schemas.microsoft.com/office/drawing/2014/main" id="{5340D4B5-5A64-4020-ADC3-BAC284579113}"/>
              </a:ext>
            </a:extLst>
          </p:cNvPr>
          <p:cNvSpPr>
            <a:spLocks noGrp="1"/>
          </p:cNvSpPr>
          <p:nvPr/>
        </p:nvSpPr>
        <p:spPr>
          <a:xfrm>
            <a:off x="8305800" y="5191125"/>
            <a:ext cx="3143250" cy="323850"/>
          </a:xfrm>
          <a:prstGeom prst="rect">
            <a:avLst/>
          </a:prstGeom>
          <a:noFill/>
          <a:ln w="0">
            <a:noFill/>
          </a:ln>
        </p:spPr>
        <p:txBody>
          <a:bodyPr wrap="square" lIns="0" tIns="0" rIns="0" bIns="0" anchor="ctr">
            <a:noAutofit/>
          </a:bodyPr>
          <a:lstStyle/>
          <a:p>
            <a:pPr algn="ctr">
              <a:lnSpc>
                <a:spcPct val="100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Meet before you book</a:t>
            </a:r>
          </a:p>
        </p:txBody>
      </p:sp>
      <p:sp>
        <p:nvSpPr>
          <p:cNvPr id="44" name="Rectangle 43">
            <a:extLst>
              <a:ext uri="{FF2B5EF4-FFF2-40B4-BE49-F238E27FC236}">
                <a16:creationId xmlns:a16="http://schemas.microsoft.com/office/drawing/2014/main" id="{20ADE270-FB05-4EC0-AB70-32CD5830B600}"/>
              </a:ext>
            </a:extLst>
          </p:cNvPr>
          <p:cNvSpPr>
            <a:spLocks noGrp="1"/>
          </p:cNvSpPr>
          <p:nvPr/>
        </p:nvSpPr>
        <p:spPr>
          <a:xfrm>
            <a:off x="8324850" y="5638800"/>
            <a:ext cx="3143250" cy="209550"/>
          </a:xfrm>
          <a:prstGeom prst="rect">
            <a:avLst/>
          </a:prstGeom>
          <a:noFill/>
          <a:ln w="0">
            <a:noFill/>
          </a:ln>
        </p:spPr>
        <p:txBody>
          <a:bodyPr wrap="square" lIns="0" tIns="0" rIns="0" bIns="0" anchor="ctr">
            <a:noAutofit/>
          </a:bodyPr>
          <a:lstStyle/>
          <a:p>
            <a:pPr algn="ctr">
              <a:lnSpc>
                <a:spcPct val="100000"/>
              </a:lnSpc>
              <a:buNone/>
              <a:defRPr sz="900" b="0">
                <a:solidFill>
                  <a:srgbClr val="65718A"/>
                </a:solidFill>
                <a:latin typeface="Helvetica Neue"/>
                <a:ea typeface="Helvetica Neue"/>
                <a:cs typeface="Helvetica Neue"/>
              </a:defRPr>
            </a:pPr>
            <a:r>
              <a:rPr sz="900" b="0">
                <a:solidFill>
                  <a:srgbClr val="65718A"/>
                </a:solidFill>
                <a:latin typeface="Helvetica Neue"/>
                <a:ea typeface="Helvetica Neue"/>
                <a:cs typeface="Helvetica Neue"/>
              </a:rPr>
              <a:t>Start with a short video introduction</a:t>
            </a:r>
          </a:p>
        </p:txBody>
      </p:sp>
      <p:sp>
        <p:nvSpPr>
          <p:cNvPr id="45" name="Rounded Rectangle 44">
            <a:extLst>
              <a:ext uri="{FF2B5EF4-FFF2-40B4-BE49-F238E27FC236}">
                <a16:creationId xmlns:a16="http://schemas.microsoft.com/office/drawing/2014/main" id="{17E83E1D-F471-4766-A3E3-C1EF75060C18}"/>
              </a:ext>
            </a:extLst>
          </p:cNvPr>
          <p:cNvSpPr>
            <a:spLocks noGrp="1"/>
          </p:cNvSpPr>
          <p:nvPr/>
        </p:nvSpPr>
        <p:spPr>
          <a:xfrm>
            <a:off x="9563100" y="5943600"/>
            <a:ext cx="609600" cy="47625"/>
          </a:xfrm>
          <a:prstGeom prst="roundRect">
            <a:avLst>
              <a:gd name="adj" fmla="val 50000"/>
            </a:avLst>
          </a:prstGeom>
          <a:solidFill>
            <a:srgbClr val="17191D"/>
          </a:solidFill>
          <a:ln w="0">
            <a:solidFill>
              <a:srgbClr val="17191D"/>
            </a:solidFill>
          </a:ln>
        </p:spPr>
        <p:txBody>
          <a:bodyPr/>
          <a:lstStyle/>
          <a:p>
            <a:endParaRPr lang="en-US"/>
          </a:p>
        </p:txBody>
      </p:sp>
      <p:sp>
        <p:nvSpPr>
          <p:cNvPr id="46" name="Rectangle 45">
            <a:extLst>
              <a:ext uri="{FF2B5EF4-FFF2-40B4-BE49-F238E27FC236}">
                <a16:creationId xmlns:a16="http://schemas.microsoft.com/office/drawing/2014/main" id="{42C8A19A-BAFF-47F4-99A1-E6D5F8797F5E}"/>
              </a:ext>
            </a:extLst>
          </p:cNvPr>
          <p:cNvSpPr>
            <a:spLocks noGrp="1"/>
          </p:cNvSpPr>
          <p:nvPr/>
        </p:nvSpPr>
        <p:spPr>
          <a:xfrm>
            <a:off x="609600" y="6429375"/>
            <a:ext cx="1714500" cy="190500"/>
          </a:xfrm>
          <a:prstGeom prst="rect">
            <a:avLst/>
          </a:prstGeom>
          <a:noFill/>
          <a:ln w="0">
            <a:noFill/>
          </a:ln>
        </p:spPr>
        <p:txBody>
          <a:bodyPr wrap="square" lIns="0" tIns="0" rIns="0" bIns="0" anchor="ctr">
            <a:noAutofit/>
          </a:bodyPr>
          <a:lstStyle/>
          <a:p>
            <a:pPr algn="l">
              <a:lnSpc>
                <a:spcPct val="100000"/>
              </a:lnSpc>
              <a:buNone/>
              <a:defRPr sz="975" b="1">
                <a:solidFill>
                  <a:srgbClr val="D7DFE9"/>
                </a:solidFill>
                <a:latin typeface="Helvetica Neue"/>
                <a:ea typeface="Helvetica Neue"/>
                <a:cs typeface="Helvetica Neue"/>
              </a:defRPr>
            </a:pPr>
            <a:r>
              <a:rPr sz="975" b="1">
                <a:solidFill>
                  <a:srgbClr val="D7DFE9"/>
                </a:solidFill>
                <a:latin typeface="Helvetica Neue"/>
                <a:ea typeface="Helvetica Neue"/>
                <a:cs typeface="Helvetica Neue"/>
              </a:rPr>
              <a:t>PENGPAL</a:t>
            </a:r>
          </a:p>
        </p:txBody>
      </p:sp>
      <p:sp>
        <p:nvSpPr>
          <p:cNvPr id="47" name="Rectangle 46">
            <a:extLst>
              <a:ext uri="{FF2B5EF4-FFF2-40B4-BE49-F238E27FC236}">
                <a16:creationId xmlns:a16="http://schemas.microsoft.com/office/drawing/2014/main" id="{45346B82-FB73-407F-BEE0-26E1762A92C4}"/>
              </a:ext>
            </a:extLst>
          </p:cNvPr>
          <p:cNvSpPr>
            <a:spLocks noGrp="1"/>
          </p:cNvSpPr>
          <p:nvPr/>
        </p:nvSpPr>
        <p:spPr>
          <a:xfrm>
            <a:off x="10668000" y="6429375"/>
            <a:ext cx="914400" cy="190500"/>
          </a:xfrm>
          <a:prstGeom prst="rect">
            <a:avLst/>
          </a:prstGeom>
          <a:noFill/>
          <a:ln w="0">
            <a:noFill/>
          </a:ln>
        </p:spPr>
        <p:txBody>
          <a:bodyPr wrap="square" lIns="0" tIns="0" rIns="0" bIns="0" anchor="ctr">
            <a:noAutofit/>
          </a:bodyPr>
          <a:lstStyle/>
          <a:p>
            <a:pPr algn="r">
              <a:lnSpc>
                <a:spcPct val="100000"/>
              </a:lnSpc>
              <a:buNone/>
              <a:defRPr sz="975" b="0">
                <a:solidFill>
                  <a:srgbClr val="65718A"/>
                </a:solidFill>
                <a:latin typeface="Helvetica Neue"/>
                <a:ea typeface="Helvetica Neue"/>
                <a:cs typeface="Helvetica Neue"/>
              </a:defRPr>
            </a:pPr>
            <a:r>
              <a:rPr sz="975" b="0">
                <a:solidFill>
                  <a:srgbClr val="65718A"/>
                </a:solidFill>
                <a:latin typeface="Helvetica Neue"/>
                <a:ea typeface="Helvetica Neue"/>
                <a:cs typeface="Helvetica Neue"/>
              </a:rPr>
              <a:t>03  /  04</a:t>
            </a:r>
          </a:p>
        </p:txBody>
      </p:sp>
    </p:spTree>
    <p:extLst>
      <p:ext uri="{BB962C8B-B14F-4D97-AF65-F5344CB8AC3E}">
        <p14:creationId xmlns:p14="http://schemas.microsoft.com/office/powerpoint/2010/main" val="1479294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490ADEC-E91B-4F0D-A830-FFB2111C41E6}"/>
              </a:ext>
            </a:extLst>
          </p:cNvPr>
          <p:cNvSpPr>
            <a:spLocks noGrp="1"/>
          </p:cNvSpPr>
          <p:nvPr/>
        </p:nvSpPr>
        <p:spPr>
          <a:xfrm>
            <a:off x="609600" y="523875"/>
            <a:ext cx="2476500" cy="228600"/>
          </a:xfrm>
          <a:prstGeom prst="rect">
            <a:avLst/>
          </a:prstGeom>
          <a:noFill/>
          <a:ln w="0">
            <a:noFill/>
          </a:ln>
        </p:spPr>
        <p:txBody>
          <a:bodyPr wrap="square" lIns="0" tIns="0" rIns="0" bIns="0" anchor="ctr">
            <a:noAutofit/>
          </a:bodyPr>
          <a:lstStyle/>
          <a:p>
            <a:pPr algn="l">
              <a:lnSpc>
                <a:spcPct val="100000"/>
              </a:lnSpc>
              <a:buNone/>
              <a:defRPr sz="1125" b="1">
                <a:solidFill>
                  <a:srgbClr val="E84632"/>
                </a:solidFill>
                <a:latin typeface="Helvetica Neue"/>
                <a:ea typeface="Helvetica Neue"/>
                <a:cs typeface="Helvetica Neue"/>
              </a:defRPr>
            </a:pPr>
            <a:r>
              <a:rPr sz="1125" b="1">
                <a:solidFill>
                  <a:srgbClr val="E84632"/>
                </a:solidFill>
                <a:latin typeface="Helvetica Neue"/>
                <a:ea typeface="Helvetica Neue"/>
                <a:cs typeface="Helvetica Neue"/>
              </a:rPr>
              <a:t>PILOT &amp; SCALE</a:t>
            </a:r>
          </a:p>
        </p:txBody>
      </p:sp>
      <p:sp>
        <p:nvSpPr>
          <p:cNvPr id="2" name="Rectangle 1">
            <a:extLst>
              <a:ext uri="{FF2B5EF4-FFF2-40B4-BE49-F238E27FC236}">
                <a16:creationId xmlns:a16="http://schemas.microsoft.com/office/drawing/2014/main" id="{F63E015B-2A6D-4C72-B290-559B97B4F613}"/>
              </a:ext>
            </a:extLst>
          </p:cNvPr>
          <p:cNvSpPr>
            <a:spLocks noGrp="1"/>
          </p:cNvSpPr>
          <p:nvPr/>
        </p:nvSpPr>
        <p:spPr>
          <a:xfrm>
            <a:off x="609600" y="866775"/>
            <a:ext cx="10668000" cy="628650"/>
          </a:xfrm>
          <a:prstGeom prst="rect">
            <a:avLst/>
          </a:prstGeom>
          <a:noFill/>
          <a:ln w="0">
            <a:noFill/>
          </a:ln>
        </p:spPr>
        <p:txBody>
          <a:bodyPr wrap="square" lIns="0" tIns="0" rIns="0" bIns="0" anchor="ctr">
            <a:noAutofit/>
          </a:bodyPr>
          <a:lstStyle/>
          <a:p>
            <a:pPr>
              <a:defRPr sz="3300" b="1">
                <a:solidFill>
                  <a:srgbClr val="18345A"/>
                </a:solidFill>
                <a:latin typeface="Helvetica Neue"/>
                <a:ea typeface="Helvetica Neue"/>
                <a:cs typeface="Helvetica Neue"/>
              </a:defRPr>
            </a:pPr>
            <a:r>
              <a:rPr sz="3300" b="1">
                <a:solidFill>
                  <a:srgbClr val="18345A"/>
                </a:solidFill>
                <a:latin typeface="Helvetica Neue"/>
                <a:ea typeface="Helvetica Neue"/>
                <a:cs typeface="Helvetica Neue"/>
              </a:rPr>
              <a:t>Prove the model in two </a:t>
            </a:r>
            <a:r>
              <a:rPr lang="en-US" sz="3300" b="1">
                <a:solidFill>
                  <a:srgbClr val="18345A"/>
                </a:solidFill>
                <a:latin typeface="Helvetica Neue"/>
                <a:ea typeface="Helvetica Neue"/>
                <a:cs typeface="Helvetica Neue"/>
              </a:rPr>
              <a:t>most popular cities</a:t>
            </a:r>
            <a:endParaRPr sz="3300" b="1">
              <a:solidFill>
                <a:srgbClr val="18345A"/>
              </a:solidFill>
              <a:latin typeface="Helvetica Neue"/>
              <a:ea typeface="Helvetica Neue"/>
              <a:cs typeface="Helvetica Neue"/>
            </a:endParaRPr>
          </a:p>
        </p:txBody>
      </p:sp>
      <p:sp>
        <p:nvSpPr>
          <p:cNvPr id="3" name="Rectangle 2">
            <a:extLst>
              <a:ext uri="{FF2B5EF4-FFF2-40B4-BE49-F238E27FC236}">
                <a16:creationId xmlns:a16="http://schemas.microsoft.com/office/drawing/2014/main" id="{14D95F47-8663-4820-A2D5-CF9134C58E5C}"/>
              </a:ext>
            </a:extLst>
          </p:cNvPr>
          <p:cNvSpPr>
            <a:spLocks noGrp="1"/>
          </p:cNvSpPr>
          <p:nvPr/>
        </p:nvSpPr>
        <p:spPr>
          <a:xfrm>
            <a:off x="609600" y="1642298"/>
            <a:ext cx="5810250" cy="381000"/>
          </a:xfrm>
          <a:prstGeom prst="rect">
            <a:avLst/>
          </a:prstGeom>
          <a:noFill/>
          <a:ln w="0">
            <a:noFill/>
          </a:ln>
        </p:spPr>
        <p:txBody>
          <a:bodyPr wrap="square" lIns="0" tIns="0" rIns="0" bIns="0" anchor="ctr">
            <a:noAutofit/>
          </a:bodyPr>
          <a:lstStyle/>
          <a:p>
            <a:pPr algn="l">
              <a:lnSpc>
                <a:spcPct val="100000"/>
              </a:lnSpc>
              <a:buNone/>
              <a:defRPr sz="2025" b="1">
                <a:solidFill>
                  <a:srgbClr val="E84632"/>
                </a:solidFill>
                <a:latin typeface="Helvetica Neue"/>
                <a:ea typeface="Helvetica Neue"/>
                <a:cs typeface="Helvetica Neue"/>
              </a:defRPr>
            </a:pPr>
            <a:r>
              <a:rPr lang="en-US" sz="2000" b="1">
                <a:solidFill>
                  <a:srgbClr val="E84632"/>
                </a:solidFill>
                <a:latin typeface="Helvetica Neue"/>
                <a:ea typeface="Helvetica Neue"/>
                <a:cs typeface="Helvetica Neue"/>
              </a:rPr>
              <a:t>CHONGQING  +  SHANGHAI</a:t>
            </a:r>
            <a:endParaRPr sz="2025" b="1">
              <a:solidFill>
                <a:srgbClr val="E84632"/>
              </a:solidFill>
              <a:latin typeface="Helvetica Neue"/>
              <a:ea typeface="Helvetica Neue"/>
              <a:cs typeface="Helvetica Neue"/>
            </a:endParaRPr>
          </a:p>
        </p:txBody>
      </p:sp>
      <p:sp>
        <p:nvSpPr>
          <p:cNvPr id="4" name="Rectangle 3">
            <a:extLst>
              <a:ext uri="{FF2B5EF4-FFF2-40B4-BE49-F238E27FC236}">
                <a16:creationId xmlns:a16="http://schemas.microsoft.com/office/drawing/2014/main" id="{D60440FB-AB0B-40A0-B33F-282A1A8A9D66}"/>
              </a:ext>
            </a:extLst>
          </p:cNvPr>
          <p:cNvSpPr>
            <a:spLocks noGrp="1"/>
          </p:cNvSpPr>
          <p:nvPr/>
        </p:nvSpPr>
        <p:spPr>
          <a:xfrm>
            <a:off x="609600" y="1826919"/>
            <a:ext cx="5238750" cy="876300"/>
          </a:xfrm>
          <a:prstGeom prst="rect">
            <a:avLst/>
          </a:prstGeom>
          <a:noFill/>
          <a:ln w="0">
            <a:noFill/>
          </a:ln>
        </p:spPr>
        <p:txBody>
          <a:bodyPr wrap="square" lIns="0" tIns="0" rIns="0" bIns="0" anchor="ctr">
            <a:noAutofit/>
          </a:bodyPr>
          <a:lstStyle/>
          <a:p>
            <a:pPr algn="l">
              <a:lnSpc>
                <a:spcPct val="100000"/>
              </a:lnSpc>
              <a:buNone/>
              <a:defRPr sz="1875" b="0">
                <a:solidFill>
                  <a:srgbClr val="18345A"/>
                </a:solidFill>
                <a:latin typeface="Helvetica Neue"/>
                <a:ea typeface="Helvetica Neue"/>
                <a:cs typeface="Helvetica Neue"/>
              </a:defRPr>
            </a:pPr>
            <a:r>
              <a:rPr sz="1875" b="0">
                <a:solidFill>
                  <a:srgbClr val="18345A"/>
                </a:solidFill>
                <a:latin typeface="Helvetica Neue"/>
                <a:ea typeface="Helvetica Neue"/>
                <a:cs typeface="Helvetica Neue"/>
              </a:rPr>
              <a:t>Hand-match the first trips. Recruit through student and returnee networks.</a:t>
            </a:r>
          </a:p>
        </p:txBody>
      </p:sp>
      <p:grpSp>
        <p:nvGrpSpPr>
          <p:cNvPr id="19" name="Group 18">
            <a:extLst>
              <a:ext uri="{FF2B5EF4-FFF2-40B4-BE49-F238E27FC236}">
                <a16:creationId xmlns:a16="http://schemas.microsoft.com/office/drawing/2014/main" id="{B249CEB6-FB3F-8647-78B7-B842CD6E7AC7}"/>
              </a:ext>
            </a:extLst>
          </p:cNvPr>
          <p:cNvGrpSpPr/>
          <p:nvPr/>
        </p:nvGrpSpPr>
        <p:grpSpPr>
          <a:xfrm>
            <a:off x="6705600" y="1924050"/>
            <a:ext cx="4572000" cy="3219450"/>
            <a:chOff x="6705600" y="1924050"/>
            <a:chExt cx="4572000" cy="3219450"/>
          </a:xfrm>
        </p:grpSpPr>
        <p:sp>
          <p:nvSpPr>
            <p:cNvPr id="5" name="Rectangle 4">
              <a:extLst>
                <a:ext uri="{FF2B5EF4-FFF2-40B4-BE49-F238E27FC236}">
                  <a16:creationId xmlns:a16="http://schemas.microsoft.com/office/drawing/2014/main" id="{F80A860F-728F-4183-BEBF-F47E5DA7A2F9}"/>
                </a:ext>
              </a:extLst>
            </p:cNvPr>
            <p:cNvSpPr>
              <a:spLocks noGrp="1"/>
            </p:cNvSpPr>
            <p:nvPr/>
          </p:nvSpPr>
          <p:spPr>
            <a:xfrm>
              <a:off x="6705600" y="1924050"/>
              <a:ext cx="1143000" cy="228600"/>
            </a:xfrm>
            <a:prstGeom prst="rect">
              <a:avLst/>
            </a:prstGeom>
            <a:noFill/>
            <a:ln w="0">
              <a:noFill/>
            </a:ln>
          </p:spPr>
          <p:txBody>
            <a:bodyPr wrap="square" lIns="0" tIns="0" rIns="0" bIns="0" anchor="ctr">
              <a:noAutofit/>
            </a:bodyPr>
            <a:lstStyle/>
            <a:p>
              <a:pPr algn="l">
                <a:lnSpc>
                  <a:spcPct val="100000"/>
                </a:lnSpc>
                <a:buNone/>
                <a:defRPr sz="1050" b="1">
                  <a:solidFill>
                    <a:srgbClr val="E84632"/>
                  </a:solidFill>
                  <a:latin typeface="Helvetica Neue"/>
                  <a:ea typeface="Helvetica Neue"/>
                  <a:cs typeface="Helvetica Neue"/>
                </a:defRPr>
              </a:pPr>
              <a:r>
                <a:rPr sz="1050" b="1">
                  <a:solidFill>
                    <a:srgbClr val="E84632"/>
                  </a:solidFill>
                  <a:latin typeface="Helvetica Neue"/>
                  <a:ea typeface="Helvetica Neue"/>
                  <a:cs typeface="Helvetica Neue"/>
                </a:rPr>
                <a:t>TEST</a:t>
              </a:r>
            </a:p>
          </p:txBody>
        </p:sp>
        <p:sp>
          <p:nvSpPr>
            <p:cNvPr id="6" name="Rectangle 5">
              <a:extLst>
                <a:ext uri="{FF2B5EF4-FFF2-40B4-BE49-F238E27FC236}">
                  <a16:creationId xmlns:a16="http://schemas.microsoft.com/office/drawing/2014/main" id="{41243292-0CD2-4934-AD0A-883F4B464D5F}"/>
                </a:ext>
              </a:extLst>
            </p:cNvPr>
            <p:cNvSpPr>
              <a:spLocks noGrp="1"/>
            </p:cNvSpPr>
            <p:nvPr/>
          </p:nvSpPr>
          <p:spPr>
            <a:xfrm>
              <a:off x="6705600" y="2200275"/>
              <a:ext cx="4572000" cy="495300"/>
            </a:xfrm>
            <a:prstGeom prst="rect">
              <a:avLst/>
            </a:prstGeom>
            <a:noFill/>
            <a:ln w="0">
              <a:noFill/>
            </a:ln>
          </p:spPr>
          <p:txBody>
            <a:bodyPr wrap="square" lIns="0" tIns="0" rIns="0" bIns="0" anchor="ctr">
              <a:noAutofit/>
            </a:bodyPr>
            <a:lstStyle/>
            <a:p>
              <a:pPr algn="l">
                <a:lnSpc>
                  <a:spcPct val="100000"/>
                </a:lnSpc>
                <a:buNone/>
                <a:defRPr sz="1650" b="0">
                  <a:solidFill>
                    <a:srgbClr val="18345A"/>
                  </a:solidFill>
                  <a:latin typeface="Helvetica Neue"/>
                  <a:ea typeface="Helvetica Neue"/>
                  <a:cs typeface="Helvetica Neue"/>
                </a:defRPr>
              </a:pPr>
              <a:r>
                <a:rPr sz="1650" b="0">
                  <a:solidFill>
                    <a:srgbClr val="18345A"/>
                  </a:solidFill>
                  <a:latin typeface="Helvetica Neue"/>
                  <a:ea typeface="Helvetica Neue"/>
                  <a:cs typeface="Helvetica Neue"/>
                </a:rPr>
                <a:t>Will travelers book at a price that works for both sides?</a:t>
              </a:r>
            </a:p>
          </p:txBody>
        </p:sp>
        <p:sp>
          <p:nvSpPr>
            <p:cNvPr id="7" name="Rectangle 6">
              <a:extLst>
                <a:ext uri="{FF2B5EF4-FFF2-40B4-BE49-F238E27FC236}">
                  <a16:creationId xmlns:a16="http://schemas.microsoft.com/office/drawing/2014/main" id="{783BDB1C-8BDD-46C7-88AE-110E30F3E305}"/>
                </a:ext>
              </a:extLst>
            </p:cNvPr>
            <p:cNvSpPr>
              <a:spLocks noGrp="1"/>
            </p:cNvSpPr>
            <p:nvPr/>
          </p:nvSpPr>
          <p:spPr>
            <a:xfrm>
              <a:off x="6705600" y="2857500"/>
              <a:ext cx="4552950" cy="9525"/>
            </a:xfrm>
            <a:prstGeom prst="rect">
              <a:avLst/>
            </a:prstGeom>
            <a:solidFill>
              <a:srgbClr val="E7E2D9"/>
            </a:solidFill>
            <a:ln w="0">
              <a:noFill/>
            </a:ln>
          </p:spPr>
          <p:txBody>
            <a:bodyPr/>
            <a:lstStyle/>
            <a:p>
              <a:endParaRPr lang="en-US"/>
            </a:p>
          </p:txBody>
        </p:sp>
        <p:sp>
          <p:nvSpPr>
            <p:cNvPr id="8" name="Rectangle 7">
              <a:extLst>
                <a:ext uri="{FF2B5EF4-FFF2-40B4-BE49-F238E27FC236}">
                  <a16:creationId xmlns:a16="http://schemas.microsoft.com/office/drawing/2014/main" id="{083DD248-6DC9-4F67-8376-106CE36554EB}"/>
                </a:ext>
              </a:extLst>
            </p:cNvPr>
            <p:cNvSpPr>
              <a:spLocks noGrp="1"/>
            </p:cNvSpPr>
            <p:nvPr/>
          </p:nvSpPr>
          <p:spPr>
            <a:xfrm>
              <a:off x="6705600" y="3067050"/>
              <a:ext cx="1333500" cy="228600"/>
            </a:xfrm>
            <a:prstGeom prst="rect">
              <a:avLst/>
            </a:prstGeom>
            <a:noFill/>
            <a:ln w="0">
              <a:noFill/>
            </a:ln>
          </p:spPr>
          <p:txBody>
            <a:bodyPr wrap="square" lIns="0" tIns="0" rIns="0" bIns="0" anchor="ctr">
              <a:noAutofit/>
            </a:bodyPr>
            <a:lstStyle/>
            <a:p>
              <a:pPr algn="l">
                <a:lnSpc>
                  <a:spcPct val="100000"/>
                </a:lnSpc>
                <a:buNone/>
                <a:defRPr sz="1050" b="1">
                  <a:solidFill>
                    <a:srgbClr val="E84632"/>
                  </a:solidFill>
                  <a:latin typeface="Helvetica Neue"/>
                  <a:ea typeface="Helvetica Neue"/>
                  <a:cs typeface="Helvetica Neue"/>
                </a:defRPr>
              </a:pPr>
              <a:r>
                <a:rPr sz="1050" b="1">
                  <a:solidFill>
                    <a:srgbClr val="E84632"/>
                  </a:solidFill>
                  <a:latin typeface="Helvetica Neue"/>
                  <a:ea typeface="Helvetica Neue"/>
                  <a:cs typeface="Helvetica Neue"/>
                </a:rPr>
                <a:t>MEASURE</a:t>
              </a:r>
            </a:p>
          </p:txBody>
        </p:sp>
        <p:sp>
          <p:nvSpPr>
            <p:cNvPr id="9" name="Rectangle 8">
              <a:extLst>
                <a:ext uri="{FF2B5EF4-FFF2-40B4-BE49-F238E27FC236}">
                  <a16:creationId xmlns:a16="http://schemas.microsoft.com/office/drawing/2014/main" id="{67AEA31C-20A2-4B49-AB1F-481D25831DB6}"/>
                </a:ext>
              </a:extLst>
            </p:cNvPr>
            <p:cNvSpPr>
              <a:spLocks noGrp="1"/>
            </p:cNvSpPr>
            <p:nvPr/>
          </p:nvSpPr>
          <p:spPr>
            <a:xfrm>
              <a:off x="6705600" y="3343275"/>
              <a:ext cx="4572000" cy="552450"/>
            </a:xfrm>
            <a:prstGeom prst="rect">
              <a:avLst/>
            </a:prstGeom>
            <a:noFill/>
            <a:ln w="0">
              <a:noFill/>
            </a:ln>
          </p:spPr>
          <p:txBody>
            <a:bodyPr wrap="square" lIns="0" tIns="0" rIns="0" bIns="0" anchor="ctr">
              <a:noAutofit/>
            </a:bodyPr>
            <a:lstStyle/>
            <a:p>
              <a:pPr algn="l">
                <a:lnSpc>
                  <a:spcPct val="100000"/>
                </a:lnSpc>
                <a:buNone/>
                <a:defRPr sz="1650" b="0">
                  <a:solidFill>
                    <a:srgbClr val="18345A"/>
                  </a:solidFill>
                  <a:latin typeface="Helvetica Neue"/>
                  <a:ea typeface="Helvetica Neue"/>
                  <a:cs typeface="Helvetica Neue"/>
                </a:defRPr>
              </a:pPr>
              <a:r>
                <a:rPr sz="1650" b="0">
                  <a:solidFill>
                    <a:srgbClr val="18345A"/>
                  </a:solidFill>
                  <a:latin typeface="Helvetica Neue"/>
                  <a:ea typeface="Helvetica Neue"/>
                  <a:cs typeface="Helvetica Neue"/>
                </a:rPr>
                <a:t>Bookings, traveler satisfaction, referrals and host return rate</a:t>
              </a:r>
            </a:p>
          </p:txBody>
        </p:sp>
        <p:sp>
          <p:nvSpPr>
            <p:cNvPr id="10" name="Rectangle 9">
              <a:extLst>
                <a:ext uri="{FF2B5EF4-FFF2-40B4-BE49-F238E27FC236}">
                  <a16:creationId xmlns:a16="http://schemas.microsoft.com/office/drawing/2014/main" id="{A844E295-307E-414E-84FE-5EAF5E0C58E0}"/>
                </a:ext>
              </a:extLst>
            </p:cNvPr>
            <p:cNvSpPr>
              <a:spLocks noGrp="1"/>
            </p:cNvSpPr>
            <p:nvPr/>
          </p:nvSpPr>
          <p:spPr>
            <a:xfrm>
              <a:off x="6705600" y="4029075"/>
              <a:ext cx="4552950" cy="9525"/>
            </a:xfrm>
            <a:prstGeom prst="rect">
              <a:avLst/>
            </a:prstGeom>
            <a:solidFill>
              <a:srgbClr val="E7E2D9"/>
            </a:solidFill>
            <a:ln w="0">
              <a:noFill/>
            </a:ln>
          </p:spPr>
          <p:txBody>
            <a:bodyPr/>
            <a:lstStyle/>
            <a:p>
              <a:endParaRPr lang="en-US"/>
            </a:p>
          </p:txBody>
        </p:sp>
        <p:sp>
          <p:nvSpPr>
            <p:cNvPr id="11" name="Rectangle 10">
              <a:extLst>
                <a:ext uri="{FF2B5EF4-FFF2-40B4-BE49-F238E27FC236}">
                  <a16:creationId xmlns:a16="http://schemas.microsoft.com/office/drawing/2014/main" id="{DBFAC7C3-27BA-4D7A-BE09-74FEDE1F5866}"/>
                </a:ext>
              </a:extLst>
            </p:cNvPr>
            <p:cNvSpPr>
              <a:spLocks noGrp="1"/>
            </p:cNvSpPr>
            <p:nvPr/>
          </p:nvSpPr>
          <p:spPr>
            <a:xfrm>
              <a:off x="6705600" y="4238625"/>
              <a:ext cx="1714500" cy="228600"/>
            </a:xfrm>
            <a:prstGeom prst="rect">
              <a:avLst/>
            </a:prstGeom>
            <a:noFill/>
            <a:ln w="0">
              <a:noFill/>
            </a:ln>
          </p:spPr>
          <p:txBody>
            <a:bodyPr wrap="square" lIns="0" tIns="0" rIns="0" bIns="0" anchor="ctr">
              <a:noAutofit/>
            </a:bodyPr>
            <a:lstStyle/>
            <a:p>
              <a:pPr algn="l">
                <a:lnSpc>
                  <a:spcPct val="100000"/>
                </a:lnSpc>
                <a:buNone/>
                <a:defRPr sz="1050" b="1">
                  <a:solidFill>
                    <a:srgbClr val="E84632"/>
                  </a:solidFill>
                  <a:latin typeface="Helvetica Neue"/>
                  <a:ea typeface="Helvetica Neue"/>
                  <a:cs typeface="Helvetica Neue"/>
                </a:defRPr>
              </a:pPr>
              <a:r>
                <a:rPr sz="1050" b="1">
                  <a:solidFill>
                    <a:srgbClr val="E84632"/>
                  </a:solidFill>
                  <a:latin typeface="Helvetica Neue"/>
                  <a:ea typeface="Helvetica Neue"/>
                  <a:cs typeface="Helvetica Neue"/>
                </a:rPr>
                <a:t>THEN EXPAND</a:t>
              </a:r>
            </a:p>
          </p:txBody>
        </p:sp>
        <p:sp>
          <p:nvSpPr>
            <p:cNvPr id="12" name="Rectangle 11">
              <a:extLst>
                <a:ext uri="{FF2B5EF4-FFF2-40B4-BE49-F238E27FC236}">
                  <a16:creationId xmlns:a16="http://schemas.microsoft.com/office/drawing/2014/main" id="{E43E9D52-60B4-44AA-AE93-B1C96AF2D95F}"/>
                </a:ext>
              </a:extLst>
            </p:cNvPr>
            <p:cNvSpPr>
              <a:spLocks noGrp="1"/>
            </p:cNvSpPr>
            <p:nvPr/>
          </p:nvSpPr>
          <p:spPr>
            <a:xfrm>
              <a:off x="6705600" y="4514850"/>
              <a:ext cx="4572000" cy="628650"/>
            </a:xfrm>
            <a:prstGeom prst="rect">
              <a:avLst/>
            </a:prstGeom>
            <a:noFill/>
            <a:ln w="0">
              <a:noFill/>
            </a:ln>
          </p:spPr>
          <p:txBody>
            <a:bodyPr wrap="square" lIns="0" tIns="0" rIns="0" bIns="0" anchor="ctr">
              <a:noAutofit/>
            </a:bodyPr>
            <a:lstStyle/>
            <a:p>
              <a:pPr>
                <a:defRPr sz="1650" b="0">
                  <a:solidFill>
                    <a:srgbClr val="18345A"/>
                  </a:solidFill>
                  <a:latin typeface="Helvetica Neue"/>
                  <a:ea typeface="Helvetica Neue"/>
                  <a:cs typeface="Helvetica Neue"/>
                </a:defRPr>
              </a:pPr>
              <a:r>
                <a:rPr sz="1650" b="0">
                  <a:solidFill>
                    <a:srgbClr val="18345A"/>
                  </a:solidFill>
                  <a:latin typeface="Helvetica Neue"/>
                  <a:ea typeface="Helvetica Neue"/>
                  <a:cs typeface="Helvetica Neue"/>
                </a:rPr>
                <a:t>Add Chinese cities after repeatable demand; build </a:t>
              </a:r>
              <a:r>
                <a:rPr lang="en-US" sz="1650">
                  <a:solidFill>
                    <a:srgbClr val="18345A"/>
                  </a:solidFill>
                  <a:latin typeface="Helvetica Neue"/>
                  <a:ea typeface="Helvetica Neue"/>
                  <a:cs typeface="Helvetica Neue"/>
                </a:rPr>
                <a:t>more features around</a:t>
              </a:r>
              <a:r>
                <a:rPr sz="1650" b="0">
                  <a:solidFill>
                    <a:srgbClr val="18345A"/>
                  </a:solidFill>
                  <a:latin typeface="Helvetica Neue"/>
                  <a:ea typeface="Helvetica Neue"/>
                  <a:cs typeface="Helvetica Neue"/>
                </a:rPr>
                <a:t> what works.</a:t>
              </a:r>
            </a:p>
          </p:txBody>
        </p:sp>
      </p:grpSp>
      <p:sp>
        <p:nvSpPr>
          <p:cNvPr id="13" name="Rectangle 12">
            <a:extLst>
              <a:ext uri="{FF2B5EF4-FFF2-40B4-BE49-F238E27FC236}">
                <a16:creationId xmlns:a16="http://schemas.microsoft.com/office/drawing/2014/main" id="{17745B7B-86DE-45D8-A87A-C2C62E8FDF9F}"/>
              </a:ext>
            </a:extLst>
          </p:cNvPr>
          <p:cNvSpPr>
            <a:spLocks noGrp="1"/>
          </p:cNvSpPr>
          <p:nvPr/>
        </p:nvSpPr>
        <p:spPr>
          <a:xfrm>
            <a:off x="609600" y="5581650"/>
            <a:ext cx="10972800" cy="19050"/>
          </a:xfrm>
          <a:prstGeom prst="rect">
            <a:avLst/>
          </a:prstGeom>
          <a:solidFill>
            <a:srgbClr val="18345A"/>
          </a:solidFill>
          <a:ln w="0">
            <a:noFill/>
          </a:ln>
        </p:spPr>
        <p:txBody>
          <a:bodyPr/>
          <a:lstStyle/>
          <a:p>
            <a:endParaRPr lang="en-US"/>
          </a:p>
        </p:txBody>
      </p:sp>
      <p:sp>
        <p:nvSpPr>
          <p:cNvPr id="14" name="Rectangle 13">
            <a:extLst>
              <a:ext uri="{FF2B5EF4-FFF2-40B4-BE49-F238E27FC236}">
                <a16:creationId xmlns:a16="http://schemas.microsoft.com/office/drawing/2014/main" id="{607CE9F2-D523-42EF-9661-3B47E7DA67C3}"/>
              </a:ext>
            </a:extLst>
          </p:cNvPr>
          <p:cNvSpPr>
            <a:spLocks noGrp="1"/>
          </p:cNvSpPr>
          <p:nvPr/>
        </p:nvSpPr>
        <p:spPr>
          <a:xfrm>
            <a:off x="609600" y="5772150"/>
            <a:ext cx="7524750" cy="342900"/>
          </a:xfrm>
          <a:prstGeom prst="rect">
            <a:avLst/>
          </a:prstGeom>
          <a:noFill/>
          <a:ln w="0">
            <a:noFill/>
          </a:ln>
        </p:spPr>
        <p:txBody>
          <a:bodyPr wrap="square" lIns="0" tIns="0" rIns="0" bIns="0" anchor="ctr">
            <a:noAutofit/>
          </a:bodyPr>
          <a:lstStyle/>
          <a:p>
            <a:pPr algn="l">
              <a:lnSpc>
                <a:spcPct val="100000"/>
              </a:lnSpc>
              <a:buNone/>
              <a:defRPr sz="1575" b="1">
                <a:solidFill>
                  <a:srgbClr val="18345A"/>
                </a:solidFill>
                <a:latin typeface="Helvetica Neue"/>
                <a:ea typeface="Helvetica Neue"/>
                <a:cs typeface="Helvetica Neue"/>
              </a:defRPr>
            </a:pPr>
            <a:r>
              <a:rPr sz="1575" b="1">
                <a:solidFill>
                  <a:srgbClr val="18345A"/>
                </a:solidFill>
                <a:latin typeface="Helvetica Neue"/>
                <a:ea typeface="Helvetica Neue"/>
                <a:cs typeface="Helvetica Neue"/>
              </a:rPr>
              <a:t>Revenue to test: a service fee on each paid booking</a:t>
            </a:r>
          </a:p>
        </p:txBody>
      </p:sp>
      <p:sp>
        <p:nvSpPr>
          <p:cNvPr id="15" name="Rectangle 14">
            <a:extLst>
              <a:ext uri="{FF2B5EF4-FFF2-40B4-BE49-F238E27FC236}">
                <a16:creationId xmlns:a16="http://schemas.microsoft.com/office/drawing/2014/main" id="{ADF4DAD7-1868-46A8-A504-E91546EAB475}"/>
              </a:ext>
            </a:extLst>
          </p:cNvPr>
          <p:cNvSpPr>
            <a:spLocks noGrp="1"/>
          </p:cNvSpPr>
          <p:nvPr/>
        </p:nvSpPr>
        <p:spPr>
          <a:xfrm>
            <a:off x="609600" y="6429375"/>
            <a:ext cx="1714500" cy="190500"/>
          </a:xfrm>
          <a:prstGeom prst="rect">
            <a:avLst/>
          </a:prstGeom>
          <a:noFill/>
          <a:ln w="0">
            <a:noFill/>
          </a:ln>
        </p:spPr>
        <p:txBody>
          <a:bodyPr wrap="square" lIns="0" tIns="0" rIns="0" bIns="0" anchor="ctr">
            <a:noAutofit/>
          </a:bodyPr>
          <a:lstStyle/>
          <a:p>
            <a:pPr algn="l">
              <a:lnSpc>
                <a:spcPct val="100000"/>
              </a:lnSpc>
              <a:buNone/>
              <a:defRPr sz="975" b="1">
                <a:solidFill>
                  <a:srgbClr val="65718A"/>
                </a:solidFill>
                <a:latin typeface="Helvetica Neue"/>
                <a:ea typeface="Helvetica Neue"/>
                <a:cs typeface="Helvetica Neue"/>
              </a:defRPr>
            </a:pPr>
            <a:r>
              <a:rPr sz="975" b="1">
                <a:solidFill>
                  <a:srgbClr val="65718A"/>
                </a:solidFill>
                <a:latin typeface="Helvetica Neue"/>
                <a:ea typeface="Helvetica Neue"/>
                <a:cs typeface="Helvetica Neue"/>
              </a:rPr>
              <a:t>PENGPAL</a:t>
            </a:r>
          </a:p>
        </p:txBody>
      </p:sp>
      <p:sp>
        <p:nvSpPr>
          <p:cNvPr id="16" name="Rectangle 15">
            <a:extLst>
              <a:ext uri="{FF2B5EF4-FFF2-40B4-BE49-F238E27FC236}">
                <a16:creationId xmlns:a16="http://schemas.microsoft.com/office/drawing/2014/main" id="{DDAE76D0-A2D8-4991-A052-857EE3D96967}"/>
              </a:ext>
            </a:extLst>
          </p:cNvPr>
          <p:cNvSpPr>
            <a:spLocks noGrp="1"/>
          </p:cNvSpPr>
          <p:nvPr/>
        </p:nvSpPr>
        <p:spPr>
          <a:xfrm>
            <a:off x="6858000" y="6353175"/>
            <a:ext cx="4724400" cy="314325"/>
          </a:xfrm>
          <a:prstGeom prst="rect">
            <a:avLst/>
          </a:prstGeom>
          <a:noFill/>
          <a:ln w="0">
            <a:noFill/>
          </a:ln>
        </p:spPr>
        <p:txBody>
          <a:bodyPr wrap="square" lIns="0" tIns="0" rIns="0" bIns="0" anchor="ctr">
            <a:noAutofit/>
          </a:bodyPr>
          <a:lstStyle/>
          <a:p>
            <a:pPr algn="r">
              <a:lnSpc>
                <a:spcPct val="100000"/>
              </a:lnSpc>
              <a:buNone/>
              <a:defRPr sz="1500" b="1">
                <a:solidFill>
                  <a:srgbClr val="E84632"/>
                </a:solidFill>
                <a:latin typeface="Helvetica Neue"/>
                <a:ea typeface="Helvetica Neue"/>
                <a:cs typeface="Helvetica Neue"/>
              </a:defRPr>
            </a:pPr>
            <a:endParaRPr lang="en-US" sz="1500" b="1">
              <a:solidFill>
                <a:srgbClr val="E84632"/>
              </a:solidFill>
              <a:latin typeface="Helvetica Neue"/>
              <a:ea typeface="Helvetica Neue"/>
              <a:cs typeface="Helvetica Neue"/>
            </a:endParaRPr>
          </a:p>
        </p:txBody>
      </p:sp>
      <p:sp>
        <p:nvSpPr>
          <p:cNvPr id="17" name="Rectangle 16">
            <a:extLst>
              <a:ext uri="{FF2B5EF4-FFF2-40B4-BE49-F238E27FC236}">
                <a16:creationId xmlns:a16="http://schemas.microsoft.com/office/drawing/2014/main" id="{42484192-52BA-4795-AB7F-72B6C1EB3BCA}"/>
              </a:ext>
            </a:extLst>
          </p:cNvPr>
          <p:cNvSpPr>
            <a:spLocks noGrp="1"/>
          </p:cNvSpPr>
          <p:nvPr/>
        </p:nvSpPr>
        <p:spPr>
          <a:xfrm>
            <a:off x="10668000" y="523875"/>
            <a:ext cx="914400" cy="190500"/>
          </a:xfrm>
          <a:prstGeom prst="rect">
            <a:avLst/>
          </a:prstGeom>
          <a:noFill/>
          <a:ln w="0">
            <a:noFill/>
          </a:ln>
        </p:spPr>
        <p:txBody>
          <a:bodyPr wrap="square" lIns="0" tIns="0" rIns="0" bIns="0" anchor="ctr">
            <a:noAutofit/>
          </a:bodyPr>
          <a:lstStyle/>
          <a:p>
            <a:pPr algn="r">
              <a:lnSpc>
                <a:spcPct val="100000"/>
              </a:lnSpc>
              <a:buNone/>
              <a:defRPr sz="975" b="0">
                <a:solidFill>
                  <a:srgbClr val="65718A"/>
                </a:solidFill>
                <a:latin typeface="Helvetica Neue"/>
                <a:ea typeface="Helvetica Neue"/>
                <a:cs typeface="Helvetica Neue"/>
              </a:defRPr>
            </a:pPr>
            <a:r>
              <a:rPr sz="975" b="0">
                <a:solidFill>
                  <a:srgbClr val="65718A"/>
                </a:solidFill>
                <a:latin typeface="Helvetica Neue"/>
                <a:ea typeface="Helvetica Neue"/>
                <a:cs typeface="Helvetica Neue"/>
              </a:rPr>
              <a:t>04  /  04</a:t>
            </a:r>
          </a:p>
        </p:txBody>
      </p:sp>
    </p:spTree>
    <p:extLst>
      <p:ext uri="{BB962C8B-B14F-4D97-AF65-F5344CB8AC3E}">
        <p14:creationId xmlns:p14="http://schemas.microsoft.com/office/powerpoint/2010/main" val="1096760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E1F91-DB51-57E6-AB15-77E4670015A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21A0CD0-83D8-4894-A8D9-AB5B5B1A3A92}"/>
              </a:ext>
            </a:extLst>
          </p:cNvPr>
          <p:cNvSpPr>
            <a:spLocks noGrp="1"/>
          </p:cNvSpPr>
          <p:nvPr/>
        </p:nvSpPr>
        <p:spPr>
          <a:xfrm>
            <a:off x="778933" y="1174044"/>
            <a:ext cx="342900" cy="47625"/>
          </a:xfrm>
          <a:prstGeom prst="rect">
            <a:avLst/>
          </a:prstGeom>
          <a:solidFill>
            <a:srgbClr val="E84632"/>
          </a:solidFill>
          <a:ln w="0">
            <a:noFill/>
          </a:ln>
        </p:spPr>
        <p:txBody>
          <a:bodyPr/>
          <a:lstStyle/>
          <a:p>
            <a:endParaRPr lang="en-US"/>
          </a:p>
        </p:txBody>
      </p:sp>
      <p:sp>
        <p:nvSpPr>
          <p:cNvPr id="4" name="Rectangle 3">
            <a:extLst>
              <a:ext uri="{FF2B5EF4-FFF2-40B4-BE49-F238E27FC236}">
                <a16:creationId xmlns:a16="http://schemas.microsoft.com/office/drawing/2014/main" id="{1669F317-F00E-31CB-E8EC-A1BDD2F39D7E}"/>
              </a:ext>
            </a:extLst>
          </p:cNvPr>
          <p:cNvSpPr>
            <a:spLocks noGrp="1"/>
          </p:cNvSpPr>
          <p:nvPr/>
        </p:nvSpPr>
        <p:spPr>
          <a:xfrm>
            <a:off x="778933" y="1223198"/>
            <a:ext cx="5415138" cy="993186"/>
          </a:xfrm>
          <a:prstGeom prst="rect">
            <a:avLst/>
          </a:prstGeom>
          <a:noFill/>
          <a:ln w="0">
            <a:noFill/>
          </a:ln>
        </p:spPr>
        <p:txBody>
          <a:bodyPr wrap="square" lIns="0" tIns="0" rIns="0" bIns="0" anchor="ctr">
            <a:noAutofit/>
          </a:bodyPr>
          <a:lstStyle/>
          <a:p>
            <a:pPr algn="l">
              <a:lnSpc>
                <a:spcPct val="100000"/>
              </a:lnSpc>
              <a:buNone/>
              <a:defRPr sz="2325" b="1">
                <a:solidFill>
                  <a:srgbClr val="FFFFFF"/>
                </a:solidFill>
                <a:latin typeface="Helvetica Neue"/>
                <a:ea typeface="Helvetica Neue"/>
                <a:cs typeface="Helvetica Neue"/>
              </a:defRPr>
            </a:pPr>
            <a:r>
              <a:rPr sz="8000" b="1" err="1">
                <a:solidFill>
                  <a:srgbClr val="FF8B0F"/>
                </a:solidFill>
                <a:latin typeface="Freestyle Script"/>
                <a:ea typeface="Helvetica Neue"/>
                <a:cs typeface="Helvetica Neue"/>
              </a:rPr>
              <a:t>PengPal</a:t>
            </a:r>
            <a:endParaRPr lang="en-US" sz="8000" b="1">
              <a:solidFill>
                <a:srgbClr val="FF8B0F"/>
              </a:solidFill>
              <a:latin typeface="Freestyle Script"/>
              <a:ea typeface="Helvetica Neue"/>
              <a:cs typeface="Helvetica Neue"/>
            </a:endParaRPr>
          </a:p>
        </p:txBody>
      </p:sp>
      <p:sp>
        <p:nvSpPr>
          <p:cNvPr id="5" name="Rectangle 4">
            <a:extLst>
              <a:ext uri="{FF2B5EF4-FFF2-40B4-BE49-F238E27FC236}">
                <a16:creationId xmlns:a16="http://schemas.microsoft.com/office/drawing/2014/main" id="{089C309B-8E69-EA22-C1B5-F383D6651104}"/>
              </a:ext>
            </a:extLst>
          </p:cNvPr>
          <p:cNvSpPr>
            <a:spLocks noGrp="1"/>
          </p:cNvSpPr>
          <p:nvPr/>
        </p:nvSpPr>
        <p:spPr>
          <a:xfrm>
            <a:off x="778933" y="1997193"/>
            <a:ext cx="10333566" cy="2179695"/>
          </a:xfrm>
          <a:prstGeom prst="rect">
            <a:avLst/>
          </a:prstGeom>
          <a:noFill/>
          <a:ln w="0">
            <a:noFill/>
          </a:ln>
        </p:spPr>
        <p:txBody>
          <a:bodyPr wrap="square" lIns="0" tIns="0" rIns="0" bIns="0" anchor="ctr">
            <a:noAutofit/>
          </a:bodyPr>
          <a:lstStyle/>
          <a:p>
            <a:pPr>
              <a:defRPr sz="3000" b="1">
                <a:solidFill>
                  <a:srgbClr val="FFFFFF"/>
                </a:solidFill>
                <a:latin typeface="Helvetica Neue"/>
                <a:ea typeface="Helvetica Neue"/>
                <a:cs typeface="Helvetica Neue"/>
              </a:defRPr>
            </a:pPr>
            <a:r>
              <a:rPr lang="en-US" sz="3300" b="1">
                <a:solidFill>
                  <a:srgbClr val="18345A"/>
                </a:solidFill>
                <a:latin typeface="Helvetica Neue"/>
              </a:rPr>
              <a:t>Travel China like you have a friend there.</a:t>
            </a:r>
          </a:p>
          <a:p>
            <a:pPr>
              <a:defRPr sz="3000" b="1">
                <a:solidFill>
                  <a:srgbClr val="FFFFFF"/>
                </a:solidFill>
                <a:latin typeface="Helvetica Neue"/>
                <a:ea typeface="Helvetica Neue"/>
                <a:cs typeface="Helvetica Neue"/>
              </a:defRPr>
            </a:pPr>
            <a:endParaRPr lang="en-US" sz="2000" b="1">
              <a:solidFill>
                <a:srgbClr val="FFFFFF"/>
              </a:solidFill>
              <a:latin typeface="Helvetica Neue"/>
              <a:ea typeface="Helvetica Neue"/>
              <a:cs typeface="Helvetica Neue"/>
            </a:endParaRPr>
          </a:p>
        </p:txBody>
      </p:sp>
      <p:sp>
        <p:nvSpPr>
          <p:cNvPr id="10" name="Rectangle 9">
            <a:extLst>
              <a:ext uri="{FF2B5EF4-FFF2-40B4-BE49-F238E27FC236}">
                <a16:creationId xmlns:a16="http://schemas.microsoft.com/office/drawing/2014/main" id="{C9E2153D-6EE7-5A85-C855-824BD7EF1648}"/>
              </a:ext>
            </a:extLst>
          </p:cNvPr>
          <p:cNvSpPr>
            <a:spLocks noGrp="1"/>
          </p:cNvSpPr>
          <p:nvPr/>
        </p:nvSpPr>
        <p:spPr>
          <a:xfrm>
            <a:off x="609600" y="5219700"/>
            <a:ext cx="4762500" cy="514350"/>
          </a:xfrm>
          <a:prstGeom prst="rect">
            <a:avLst/>
          </a:prstGeom>
          <a:noFill/>
          <a:ln w="0">
            <a:noFill/>
          </a:ln>
        </p:spPr>
        <p:txBody>
          <a:bodyPr wrap="square" lIns="0" tIns="0" rIns="0" bIns="0" anchor="ctr">
            <a:noAutofit/>
          </a:bodyPr>
          <a:lstStyle/>
          <a:p>
            <a:pPr>
              <a:defRPr sz="1425" b="0">
                <a:solidFill>
                  <a:srgbClr val="CBD4E0"/>
                </a:solidFill>
                <a:latin typeface="Helvetica Neue"/>
                <a:ea typeface="Helvetica Neue"/>
                <a:cs typeface="Helvetica Neue"/>
              </a:defRPr>
            </a:pPr>
            <a:r>
              <a:rPr lang="en-US" sz="1650">
                <a:solidFill>
                  <a:srgbClr val="18345A"/>
                </a:solidFill>
                <a:latin typeface="Helvetica Neue"/>
              </a:rPr>
              <a:t>Team: TZ, SZ</a:t>
            </a:r>
          </a:p>
        </p:txBody>
      </p:sp>
      <p:sp>
        <p:nvSpPr>
          <p:cNvPr id="11" name="Rectangle 10">
            <a:extLst>
              <a:ext uri="{FF2B5EF4-FFF2-40B4-BE49-F238E27FC236}">
                <a16:creationId xmlns:a16="http://schemas.microsoft.com/office/drawing/2014/main" id="{7721B7B5-5B63-7FC7-7BAD-71B4BA1BD790}"/>
              </a:ext>
            </a:extLst>
          </p:cNvPr>
          <p:cNvSpPr>
            <a:spLocks noGrp="1"/>
          </p:cNvSpPr>
          <p:nvPr/>
        </p:nvSpPr>
        <p:spPr>
          <a:xfrm>
            <a:off x="10325100" y="6143625"/>
            <a:ext cx="1238250" cy="171450"/>
          </a:xfrm>
          <a:prstGeom prst="rect">
            <a:avLst/>
          </a:prstGeom>
          <a:noFill/>
          <a:ln w="0">
            <a:noFill/>
          </a:ln>
        </p:spPr>
        <p:txBody>
          <a:bodyPr wrap="square" lIns="0" tIns="0" rIns="0" bIns="0" anchor="ctr">
            <a:noAutofit/>
          </a:bodyPr>
          <a:lstStyle/>
          <a:p>
            <a:pPr algn="r">
              <a:lnSpc>
                <a:spcPct val="100000"/>
              </a:lnSpc>
              <a:buNone/>
              <a:defRPr sz="900" b="0">
                <a:solidFill>
                  <a:srgbClr val="FFFFFF"/>
                </a:solidFill>
                <a:latin typeface="Helvetica Neue"/>
                <a:ea typeface="Helvetica Neue"/>
                <a:cs typeface="Helvetica Neue"/>
              </a:defRPr>
            </a:pPr>
            <a:r>
              <a:rPr sz="900" b="0">
                <a:solidFill>
                  <a:srgbClr val="FFFFFF"/>
                </a:solidFill>
                <a:latin typeface="Helvetica Neue"/>
                <a:ea typeface="Helvetica Neue"/>
                <a:cs typeface="Helvetica Neue"/>
              </a:rPr>
              <a:t>Illustrative image</a:t>
            </a:r>
          </a:p>
        </p:txBody>
      </p:sp>
      <p:sp>
        <p:nvSpPr>
          <p:cNvPr id="13" name="Rectangle 12">
            <a:extLst>
              <a:ext uri="{FF2B5EF4-FFF2-40B4-BE49-F238E27FC236}">
                <a16:creationId xmlns:a16="http://schemas.microsoft.com/office/drawing/2014/main" id="{B44C7B84-47F1-7061-A03C-67431D775494}"/>
              </a:ext>
            </a:extLst>
          </p:cNvPr>
          <p:cNvSpPr>
            <a:spLocks noGrp="1"/>
          </p:cNvSpPr>
          <p:nvPr/>
        </p:nvSpPr>
        <p:spPr>
          <a:xfrm>
            <a:off x="10668000" y="6429375"/>
            <a:ext cx="914400" cy="190500"/>
          </a:xfrm>
          <a:prstGeom prst="rect">
            <a:avLst/>
          </a:prstGeom>
          <a:noFill/>
          <a:ln w="0">
            <a:noFill/>
          </a:ln>
        </p:spPr>
        <p:txBody>
          <a:bodyPr wrap="square" lIns="0" tIns="0" rIns="0" bIns="0" anchor="ctr">
            <a:noAutofit/>
          </a:bodyPr>
          <a:lstStyle/>
          <a:p>
            <a:pPr algn="r">
              <a:lnSpc>
                <a:spcPct val="100000"/>
              </a:lnSpc>
              <a:buNone/>
              <a:defRPr sz="975" b="0">
                <a:solidFill>
                  <a:srgbClr val="D7DFE9"/>
                </a:solidFill>
                <a:latin typeface="Helvetica Neue"/>
                <a:ea typeface="Helvetica Neue"/>
                <a:cs typeface="Helvetica Neue"/>
              </a:defRPr>
            </a:pPr>
            <a:r>
              <a:rPr sz="975" b="0">
                <a:solidFill>
                  <a:srgbClr val="D7DFE9"/>
                </a:solidFill>
                <a:latin typeface="Helvetica Neue"/>
                <a:ea typeface="Helvetica Neue"/>
                <a:cs typeface="Helvetica Neue"/>
              </a:rPr>
              <a:t>01  /  04</a:t>
            </a:r>
          </a:p>
        </p:txBody>
      </p:sp>
      <p:sp>
        <p:nvSpPr>
          <p:cNvPr id="7" name="Rectangle 6">
            <a:extLst>
              <a:ext uri="{FF2B5EF4-FFF2-40B4-BE49-F238E27FC236}">
                <a16:creationId xmlns:a16="http://schemas.microsoft.com/office/drawing/2014/main" id="{047A5089-599A-B314-A492-8389E122B157}"/>
              </a:ext>
            </a:extLst>
          </p:cNvPr>
          <p:cNvSpPr>
            <a:spLocks noGrp="1"/>
          </p:cNvSpPr>
          <p:nvPr/>
        </p:nvSpPr>
        <p:spPr>
          <a:xfrm>
            <a:off x="609600" y="6429375"/>
            <a:ext cx="1714500" cy="190500"/>
          </a:xfrm>
          <a:prstGeom prst="rect">
            <a:avLst/>
          </a:prstGeom>
          <a:noFill/>
          <a:ln w="0">
            <a:noFill/>
          </a:ln>
        </p:spPr>
        <p:txBody>
          <a:bodyPr wrap="square" lIns="0" tIns="0" rIns="0" bIns="0" anchor="ctr">
            <a:noAutofit/>
          </a:bodyPr>
          <a:lstStyle/>
          <a:p>
            <a:pPr algn="l">
              <a:lnSpc>
                <a:spcPct val="100000"/>
              </a:lnSpc>
              <a:buNone/>
              <a:defRPr sz="975" b="1">
                <a:solidFill>
                  <a:srgbClr val="65718A"/>
                </a:solidFill>
                <a:latin typeface="Helvetica Neue"/>
                <a:ea typeface="Helvetica Neue"/>
                <a:cs typeface="Helvetica Neue"/>
              </a:defRPr>
            </a:pPr>
            <a:r>
              <a:rPr sz="975" b="1">
                <a:solidFill>
                  <a:srgbClr val="65718A"/>
                </a:solidFill>
                <a:latin typeface="Helvetica Neue"/>
                <a:ea typeface="Helvetica Neue"/>
                <a:cs typeface="Helvetica Neue"/>
              </a:rPr>
              <a:t>PENGPAL</a:t>
            </a:r>
          </a:p>
        </p:txBody>
      </p:sp>
    </p:spTree>
    <p:extLst>
      <p:ext uri="{BB962C8B-B14F-4D97-AF65-F5344CB8AC3E}">
        <p14:creationId xmlns:p14="http://schemas.microsoft.com/office/powerpoint/2010/main" val="286373083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698</Words>
  <Application>Microsoft Office PowerPoint</Application>
  <PresentationFormat>Widescreen</PresentationFormat>
  <Paragraphs>81</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Helvetica Neue</vt:lpstr>
      <vt:lpstr>Arial</vt:lpstr>
      <vt:lpstr>Calibri</vt:lpstr>
      <vt:lpstr>Freestyle Script</vt:lpstr>
      <vt:lpstr>ChatGPT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SZ</cp:lastModifiedBy>
  <cp:revision>2</cp:revision>
  <dcterms:created xsi:type="dcterms:W3CDTF">2026-10-08T22:51:52Z</dcterms:created>
  <dcterms:modified xsi:type="dcterms:W3CDTF">2026-10-12T21:59:00Z</dcterms:modified>
</cp:coreProperties>
</file>